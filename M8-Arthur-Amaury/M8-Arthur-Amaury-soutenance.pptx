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54e84511fe478d" /><Relationship Type="http://schemas.openxmlformats.org/officeDocument/2006/relationships/extended-properties" Target="/docProps/app.xml" Id="R6e9ac8c047914b31" /><Relationship Type="http://schemas.openxmlformats.org/officeDocument/2006/relationships/officeDocument" Target="/ppt/presentation.xml" Id="Rbaf48b7a666042dc" /></Relationships>
</file>

<file path=ppt/presentation.xml><?xml version="1.0" encoding="utf-8"?>
<p:presentation xmlns:p="http://schemas.openxmlformats.org/presentationml/2006/main">
  <p:sldMasterIdLst>
    <p:sldMasterId xmlns:r="http://schemas.openxmlformats.org/officeDocument/2006/relationships" id="2147483648" r:id="R9000e367af074af4"/>
  </p:sldMasterIdLst>
  <p:notesMasterIdLst>
    <p:notesMasterId xmlns:r="http://schemas.openxmlformats.org/officeDocument/2006/relationships" r:id="R9304802a993442f9"/>
  </p:notesMasterIdLst>
  <p:sldIdLst>
    <p:sldId xmlns:r="http://schemas.openxmlformats.org/officeDocument/2006/relationships" id="256" r:id="R8f64c493b77e4a23"/>
    <p:sldId xmlns:r="http://schemas.openxmlformats.org/officeDocument/2006/relationships" id="257" r:id="R7eadc9d3bfeb4e0c"/>
    <p:sldId xmlns:r="http://schemas.openxmlformats.org/officeDocument/2006/relationships" id="258" r:id="Rf47ecca833974da0"/>
    <p:sldId xmlns:r="http://schemas.openxmlformats.org/officeDocument/2006/relationships" id="259" r:id="Rb5e3c51a8a4b4885"/>
    <p:sldId xmlns:r="http://schemas.openxmlformats.org/officeDocument/2006/relationships" id="260" r:id="R70214ca7cfed462c"/>
    <p:sldId xmlns:r="http://schemas.openxmlformats.org/officeDocument/2006/relationships" id="261" r:id="Re7c17b19ceb444c4"/>
    <p:sldId xmlns:r="http://schemas.openxmlformats.org/officeDocument/2006/relationships" id="262" r:id="R955e1755bcc24fa0"/>
    <p:sldId xmlns:r="http://schemas.openxmlformats.org/officeDocument/2006/relationships" id="263" r:id="R3a0b5d97053b456f"/>
    <p:sldId xmlns:r="http://schemas.openxmlformats.org/officeDocument/2006/relationships" id="264" r:id="R4007180f73b5437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9ede4e46c34af1" /><Relationship Type="http://schemas.openxmlformats.org/officeDocument/2006/relationships/slideMaster" Target="/ppt/slideMasters/slideMaster1.xml" Id="R9000e367af074af4" /><Relationship Type="http://schemas.openxmlformats.org/officeDocument/2006/relationships/notesMaster" Target="/ppt/notesMasters/notesMaster1.xml" Id="R9304802a993442f9" /><Relationship Type="http://schemas.openxmlformats.org/officeDocument/2006/relationships/presProps" Target="/ppt/presProps.xml" Id="R13fc70581cc242a7" /><Relationship Type="http://schemas.openxmlformats.org/officeDocument/2006/relationships/tableStyles" Target="/ppt/tableStyles.xml" Id="Rc3cd63fa570c4a92" /><Relationship Type="http://schemas.openxmlformats.org/officeDocument/2006/relationships/slide" Target="/ppt/slides/slide1.xml" Id="R8f64c493b77e4a23" /><Relationship Type="http://schemas.openxmlformats.org/officeDocument/2006/relationships/slide" Target="/ppt/slides/slide2.xml" Id="R7eadc9d3bfeb4e0c" /><Relationship Type="http://schemas.openxmlformats.org/officeDocument/2006/relationships/slide" Target="/ppt/slides/slide3.xml" Id="Rf47ecca833974da0" /><Relationship Type="http://schemas.openxmlformats.org/officeDocument/2006/relationships/slide" Target="/ppt/slides/slide4.xml" Id="Rb5e3c51a8a4b4885" /><Relationship Type="http://schemas.openxmlformats.org/officeDocument/2006/relationships/slide" Target="/ppt/slides/slide5.xml" Id="R70214ca7cfed462c" /><Relationship Type="http://schemas.openxmlformats.org/officeDocument/2006/relationships/slide" Target="/ppt/slides/slide6.xml" Id="Re7c17b19ceb444c4" /><Relationship Type="http://schemas.openxmlformats.org/officeDocument/2006/relationships/slide" Target="/ppt/slides/slide7.xml" Id="R955e1755bcc24fa0" /><Relationship Type="http://schemas.openxmlformats.org/officeDocument/2006/relationships/slide" Target="/ppt/slides/slide8.xml" Id="R3a0b5d97053b456f" /><Relationship Type="http://schemas.openxmlformats.org/officeDocument/2006/relationships/slide" Target="/ppt/slides/slide9.xml" Id="R4007180f73b543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9cb6ab3eb045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efa1eb720e42ec" /><Relationship Type="http://schemas.openxmlformats.org/officeDocument/2006/relationships/notesMaster" Target="/ppt/notesMasters/notesMaster1.xml" Id="R1b5b1d2e978f47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51ae9323174ec6" /><Relationship Type="http://schemas.openxmlformats.org/officeDocument/2006/relationships/notesMaster" Target="/ppt/notesMasters/notesMaster1.xml" Id="Re077d40422e046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3dd6d3459e401f" /><Relationship Type="http://schemas.openxmlformats.org/officeDocument/2006/relationships/notesMaster" Target="/ppt/notesMasters/notesMaster1.xml" Id="R66ac6585fd6e40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13c4a14ed40a2" /><Relationship Type="http://schemas.openxmlformats.org/officeDocument/2006/relationships/notesMaster" Target="/ppt/notesMasters/notesMaster1.xml" Id="R89329a97b7f946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3a59ff07024b23" /><Relationship Type="http://schemas.openxmlformats.org/officeDocument/2006/relationships/notesMaster" Target="/ppt/notesMasters/notesMaster1.xml" Id="R85dc598fe7724e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ba39b01e434525" /><Relationship Type="http://schemas.openxmlformats.org/officeDocument/2006/relationships/notesMaster" Target="/ppt/notesMasters/notesMaster1.xml" Id="R062b410f92c444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d183b112bf4852" /><Relationship Type="http://schemas.openxmlformats.org/officeDocument/2006/relationships/notesMaster" Target="/ppt/notesMasters/notesMaster1.xml" Id="Rca38da63b60a43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ef1378b9fa44b7" /><Relationship Type="http://schemas.openxmlformats.org/officeDocument/2006/relationships/notesMaster" Target="/ppt/notesMasters/notesMaster1.xml" Id="R881a5baacba041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d5c5937dfa4941" /><Relationship Type="http://schemas.openxmlformats.org/officeDocument/2006/relationships/notesMaster" Target="/ppt/notesMasters/notesMaster1.xml" Id="R51355f079ded4c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- 40s]</a:t>
            </a:r>
          </a:p>
          <a:p xmlns:a="http://schemas.openxmlformats.org/drawingml/2006/main">
            <a:r>
              <a:t>Bonjour, nous sommes Arthur et Amaury. Notre projet M8 porte sur la demonstration automatique neuro-symbolique: utiliser un LLM pour proposer des preuves Lean 4, mais garder Lean comme juge formel.</a:t>
            </a:r>
          </a:p>
          <a:p xmlns:a="http://schemas.openxmlformats.org/drawingml/2006/main">
            <a:r>
              <a:t/>
            </a:r>
          </a:p>
          <a:p xmlns:a="http://schemas.openxmlformats.org/drawingml/2006/main">
            <a:r>
              <a:t>L'idee importante n'est pas de dire que le modele a raison. Au contraire: le modele cherche, Lean verifie. Toute la presentation va suivre cette frontiere de confiance.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- 45s]</a:t>
            </a:r>
          </a:p>
          <a:p xmlns:a="http://schemas.openxmlformats.org/drawingml/2006/main">
            <a:r>
              <a:t>On commence par le probleme: pourquoi la preuve formelle est difficile avec un LLM seul. Ensuite on explique notre solution: une boucle multi-agent avec recherche, feedback Lean et traces.</a:t>
            </a:r>
          </a:p>
          <a:p xmlns:a="http://schemas.openxmlformats.org/drawingml/2006/main">
            <a:r>
              <a:t/>
            </a:r>
          </a:p>
          <a:p xmlns:a="http://schemas.openxmlformats.org/drawingml/2006/main">
            <a:r>
              <a:t>Amaury presentera ensuite ce qu'on observe avec les benchmarks et les limites. On garde a la fin environ deux minutes pour une demo rapide de l'application.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- 1min10]</a:t>
            </a:r>
          </a:p>
          <a:p xmlns:a="http://schemas.openxmlformats.org/drawingml/2006/main">
            <a:r>
              <a:t>Le point de depart est simple: un LLM est tres bon pour proposer du texte qui ressemble a du Lean, mais la preuve formelle ne tolere pas l'a-peu-pres.</a:t>
            </a:r>
          </a:p>
          <a:p xmlns:a="http://schemas.openxmlformats.org/drawingml/2006/main">
            <a:r>
              <a:t/>
            </a:r>
          </a:p>
          <a:p xmlns:a="http://schemas.openxmlformats.org/drawingml/2006/main">
            <a:r>
              <a:t>Une tactique peut etre syntaxiquement invalide, utiliser un lemme qui n'existe pas, laisser des objectifs ouverts, ou marcher sur un exemple trivial mais pas sur une preuve plus profonde.</a:t>
            </a:r>
          </a:p>
          <a:p xmlns:a="http://schemas.openxmlformats.org/drawingml/2006/main">
            <a:r>
              <a:t/>
            </a:r>
          </a:p>
          <a:p xmlns:a="http://schemas.openxmlformats.org/drawingml/2006/main">
            <a:r>
              <a:t>Donc le probleme n'est pas seulement de generer une preuve. C'est de construire une boucle qui transforme les erreurs en information, et qui ne declare jamais succes sans verification formelle.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- 1min15]</a:t>
            </a:r>
          </a:p>
          <a:p xmlns:a="http://schemas.openxmlformats.org/drawingml/2006/main">
            <a:r>
              <a:t>Notre architecture suit trois etapes: proposer, verifier, reparer.</a:t>
            </a:r>
          </a:p>
          <a:p xmlns:a="http://schemas.openxmlformats.org/drawingml/2006/main">
            <a:r>
              <a:t/>
            </a:r>
          </a:p>
          <a:p xmlns:a="http://schemas.openxmlformats.org/drawingml/2006/main">
            <a:r>
              <a:t>Le decomposer formule un plan ou des tactiques attendues. Le tactic agent genere une ou plusieurs branches de preuve. Le verifier lance Lean localement. Si Lean refuse, le repair agent recupere l'erreur et propose une correction.</a:t>
            </a:r>
          </a:p>
          <a:p xmlns:a="http://schemas.openxmlformats.org/drawingml/2006/main">
            <a:r>
              <a:t/>
            </a:r>
          </a:p>
          <a:p xmlns:a="http://schemas.openxmlformats.org/drawingml/2006/main">
            <a:r>
              <a:t>La frontiere de confiance est tres claire: le LLM n'est jamais l'autorite. Le seul moment ou une preuve devient acceptee, c'est quand Lean renvoie un succes.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- 1min20]</a:t>
            </a:r>
          </a:p>
          <a:p xmlns:a="http://schemas.openxmlformats.org/drawingml/2006/main">
            <a:r>
              <a:t>Techniquement, on a construit une petite application Python avec une UI web.</a:t>
            </a:r>
          </a:p>
          <a:p xmlns:a="http://schemas.openxmlformats.org/drawingml/2006/main">
            <a:r>
              <a:t/>
            </a:r>
          </a:p>
          <a:p xmlns:a="http://schemas.openxmlformats.org/drawingml/2006/main">
            <a:r>
              <a:t>Le backend expose des routes pour lister les benchmarks, lancer un run, rejouer une trace et lancer une suite. Les contrats sont faits avec Pydantic pour garder des traces JSON propres.</a:t>
            </a:r>
          </a:p>
          <a:p xmlns:a="http://schemas.openxmlformats.org/drawingml/2006/main">
            <a:r>
              <a:t/>
            </a:r>
          </a:p>
          <a:p xmlns:a="http://schemas.openxmlformats.org/drawingml/2006/main">
            <a:r>
              <a:t>La verification Lean est un subprocess direct: soit lean, soit lake env lean quand Mathlib est necessaire. L'orchestration supporte beam search et un MCTS experimental. L'UI permet de choisir la suite, le theoreme, le provider, la strategie et de voir la 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[Amaury - 1min10]</a:t>
            </a:r>
          </a:p>
          <a:p xmlns:a="http://schemas.openxmlformats.org/drawingml/2006/main">
            <a:r>
              <a:t>Sur le livrable, on a une application qui tourne avec trois niveaux.</a:t>
            </a:r>
          </a:p>
          <a:p xmlns:a="http://schemas.openxmlformats.org/drawingml/2006/main">
            <a:r>
              <a:t/>
            </a:r>
          </a:p>
          <a:p xmlns:a="http://schemas.openxmlformats.org/drawingml/2006/main">
            <a:r>
              <a:t>D'abord une suite smoke tres rapide pour verifier le plumbing. Ensuite un subset miniF2F de 8 problemes, avec du Lean pur et des exemples Mathlib. Enfin un import miniF2F-v2 de 488 enonces pour des evaluations hors demo.</a:t>
            </a:r>
          </a:p>
          <a:p xmlns:a="http://schemas.openxmlformats.org/drawingml/2006/main">
            <a:r>
              <a:t/>
            </a:r>
          </a:p>
          <a:p xmlns:a="http://schemas.openxmlformats.org/drawingml/2006/main">
            <a:r>
              <a:t>On a aussi un mode replay: ce ne sont pas des fausses traces ecrites a la main, ce sont des JSON produits par les runs et reutilises pour fiabiliser la soutenance.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[Amaury - 1min30]</a:t>
            </a:r>
          </a:p>
          <a:p xmlns:a="http://schemas.openxmlformats.org/drawingml/2006/main">
            <a:r>
              <a:t>Nos observations sont prudentes. On a 349 traces locales dans le dossier du projet. Elles se repartissent en 91 succes, 95 echecs et 163 erreurs provider.</a:t>
            </a:r>
          </a:p>
          <a:p xmlns:a="http://schemas.openxmlformats.org/drawingml/2006/main">
            <a:r>
              <a:t/>
            </a:r>
          </a:p>
          <a:p xmlns:a="http://schemas.openxmlformats.org/drawingml/2006/main">
            <a:r>
              <a:t>Le plus interessant est que les erreurs provider ne sont pas des erreurs logiques: elles rappellent que l'execution live depend des cles API, du reseau et du modele configure. C'est une des raisons du mode replay.</a:t>
            </a:r>
          </a:p>
          <a:p xmlns:a="http://schemas.openxmlformats.org/drawingml/2006/main">
            <a:r>
              <a:t/>
            </a:r>
          </a:p>
          <a:p xmlns:a="http://schemas.openxmlformats.org/drawingml/2006/main">
            <a:r>
              <a:t>Les echecs Lean sont eux utiles: ils donnent des messages exploitables pour la boucle de reparation. Et les tests automatises valident l'API, les benchmarks, la recherche beam/MCTS et les cas setup_needed. La commande unittest passe avec 12 tests 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[Amaury - 1min40]</a:t>
            </a:r>
          </a:p>
          <a:p xmlns:a="http://schemas.openxmlformats.org/drawingml/2006/main">
            <a:r>
              <a:t>Pour la demo, on conseille de ne pas lancer la suite complete. On ouvre l'application, on choisit smoke ou miniF2F subset, puis le mode replay pour montrer une trace stable.</a:t>
            </a:r>
          </a:p>
          <a:p xmlns:a="http://schemas.openxmlformats.org/drawingml/2006/main">
            <a:r>
              <a:t/>
            </a:r>
          </a:p>
          <a:p xmlns:a="http://schemas.openxmlformats.org/drawingml/2006/main">
            <a:r>
              <a:t>On clique sur Run, on montre la timeline: orchestrator, decomposer, verifier, tactic agent, assembler. Puis on ouvre une etape de verification pour montrer la commande Lean et le retour.</a:t>
            </a:r>
          </a:p>
          <a:p xmlns:a="http://schemas.openxmlformats.org/drawingml/2006/main">
            <a:r>
              <a:t/>
            </a:r>
          </a:p>
          <a:p xmlns:a="http://schemas.openxmlformats.org/drawingml/2006/main">
            <a:r>
              <a:t>S'il reste du temps et si les providers sont configures, on passe en real run sur un petit theoreme smoke. Sinon, on explique que le replay est volontaire: il montre la meme structure sans risquer un echec reseau pendant la soutenance.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puis Amaury - 1min10]</a:t>
            </a:r>
          </a:p>
          <a:p xmlns:a="http://schemas.openxmlformats.org/drawingml/2006/main">
            <a:r>
              <a:t>Arthur: Le resultat principal, c'est une boucle neuro-symbolique complete et inspectable. Le LLM apporte la recherche et l'intuition tactique; Lean apporte la garantie formelle.</a:t>
            </a:r>
          </a:p>
          <a:p xmlns:a="http://schemas.openxmlformats.org/drawingml/2006/main">
            <a:r>
              <a:t/>
            </a:r>
          </a:p>
          <a:p xmlns:a="http://schemas.openxmlformats.org/drawingml/2006/main">
            <a:r>
              <a:t>Amaury: Les limites sont claires: Mathlib doit etre bien configure, les providers restent instables, et les preuves difficiles demandent plus qu'une simple generation de tactiques. Les perspectives seraient d'ajouter LeanDojo, du retrieval de lemmes, et une evaluation plus propre par familles de theoremes.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b5ea36e53142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76e835c7014081" /><Relationship Type="http://schemas.openxmlformats.org/officeDocument/2006/relationships/slideLayout" Target="/ppt/slideLayouts/slideLayout1.xml" Id="Rb74e6f8ddee14c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4e6f8ddee14c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e1a3ddd00a4d5b" /><Relationship Type="http://schemas.openxmlformats.org/officeDocument/2006/relationships/notesSlide" Target="/ppt/notesSlides/notesSlide1.xml" Id="Rba9585feb6c244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2af5ce5ecd474f" /><Relationship Type="http://schemas.openxmlformats.org/officeDocument/2006/relationships/notesSlide" Target="/ppt/notesSlides/notesSlide2.xml" Id="Re127621a564344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0fd70030834dc1" /><Relationship Type="http://schemas.openxmlformats.org/officeDocument/2006/relationships/notesSlide" Target="/ppt/notesSlides/notesSlide3.xml" Id="Rc7675feb599147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32193c9ab8466d" /><Relationship Type="http://schemas.openxmlformats.org/officeDocument/2006/relationships/notesSlide" Target="/ppt/notesSlides/notesSlide4.xml" Id="R1d9326c985de4d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e0d06e52c647fe" /><Relationship Type="http://schemas.openxmlformats.org/officeDocument/2006/relationships/notesSlide" Target="/ppt/notesSlides/notesSlide5.xml" Id="R9cc2a1ec6b8a40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444bff99c54180" /><Relationship Type="http://schemas.openxmlformats.org/officeDocument/2006/relationships/notesSlide" Target="/ppt/notesSlides/notesSlide6.xml" Id="Rbc55822a4dd144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6451a1353c4581" /><Relationship Type="http://schemas.openxmlformats.org/officeDocument/2006/relationships/chart" Target="/ppt/slides/charts/chart1.xml" Id="R4fab19dcd2264b2c" /><Relationship Type="http://schemas.openxmlformats.org/officeDocument/2006/relationships/notesSlide" Target="/ppt/notesSlides/notesSlide7.xml" Id="R5e257903629a41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7d5d627b934c5f" /><Relationship Type="http://schemas.openxmlformats.org/officeDocument/2006/relationships/image" Target="/ppt/media/image.png" Id="R47ff6b11b0fa41f9" /><Relationship Type="http://schemas.openxmlformats.org/officeDocument/2006/relationships/notesSlide" Target="/ppt/notesSlides/notesSlide8.xml" Id="Ra0c5874cde2949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54d3f9972b46e6" /><Relationship Type="http://schemas.openxmlformats.org/officeDocument/2006/relationships/notesSlide" Target="/ppt/notesSlides/notesSlide9.xml" Id="R04da775c57a4450e" /></Relationships>
</file>

<file path=ppt/slides/charts/chart1.xml><?xml version="1.0" encoding="utf-8"?>
<c:chartSpace xmlns:c="http://schemas.openxmlformats.org/drawingml/2006/chart">
  <c:lang val="en-US"/>
  <c:roundedCorners val="0"/>
  <c:chart>
    <c:plotArea>
      <c:layout/>
      <c:barChart>
        <c:barDir val="col"/>
        <c:varyColors val="0"/>
        <c:ser>
          <c:idx val="0"/>
          <c:order val="0"/>
          <c:tx>
            <c:v>Traces locales</c:v>
          </c:tx>
          <c:spPr>
            <a:solidFill xmlns:a="http://schemas.openxmlformats.org/drawingml/2006/main">
              <a:srgbClr val="FF6B35"/>
            </a:solidFill>
          </c:spPr>
          <c:dLbls>
            <c:showLegendKey val="0"/>
            <c:showVal val="0"/>
            <c:showCatName val="0"/>
            <c:showSerName val="0"/>
            <c:showPercent val="0"/>
            <c:showBubbleSize val="0"/>
            <c:showLeaderLines val="0"/>
          </c:dLbls>
          <c:cat>
            <c:strLit>
              <c:ptCount val="3"/>
              <c:pt idx="0">
                <c:v>Succes</c:v>
              </c:pt>
              <c:pt idx="1">
                <c:v>Echecs Lean</c:v>
              </c:pt>
              <c:pt idx="2">
                <c:v>Provider error</c:v>
              </c:pt>
            </c:strLit>
          </c:cat>
          <c:val>
            <c:numLit>
              <c:formatCode>General</c:formatCode>
              <c:ptCount val="3"/>
              <c:pt idx="0">
                <c:v>91</c:v>
              </c:pt>
              <c:pt idx="1">
                <c:v>95</c:v>
              </c:pt>
              <c:pt idx="2">
                <c:v>163</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a:solidFill>
                <a:srgbClr val="B8BCC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85EE29-053D-4B09-92A7-57FDEAE1D83B}"/>
              </a:ext>
            </a:extLst>
          </p:cNvPr>
          <p:cNvSpPr>
            <a:spLocks xmlns:a="http://schemas.openxmlformats.org/drawingml/2006/main" noGrp="1"/>
          </p:cNvSpPr>
          <p:nvPr/>
        </p:nvSpPr>
        <p:spPr>
          <a:xfrm xmlns:a="http://schemas.openxmlformats.org/drawingml/2006/main">
            <a:off x="400050" y="4000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555555"/>
                </a:solidFill>
              </a:defRPr>
            </a:pPr>
            <a:r>
              <a:rPr sz="1350" b="1">
                <a:solidFill>
                  <a:srgbClr val="555555"/>
                </a:solidFill>
              </a:rPr>
              <a:t>EPITA 2026 - Intelligence Symbolique</a:t>
            </a:r>
          </a:p>
        </p:txBody>
      </p:sp>
      <p:sp>
        <p:nvSpPr>
          <p:cNvPr id="2" name="">
            <a:extLst xmlns:a="http://schemas.openxmlformats.org/drawingml/2006/main">
              <a:ext uri="{FF2B5EF4-FFF2-40B4-BE49-F238E27FC236}">
                <a16:creationId xmlns:a16="http://schemas.microsoft.com/office/drawing/2014/main" id="{326FA86A-6B55-42E8-BE9F-D73378BEDE0A}"/>
              </a:ext>
            </a:extLst>
          </p:cNvPr>
          <p:cNvSpPr>
            <a:spLocks xmlns:a="http://schemas.openxmlformats.org/drawingml/2006/main" noGrp="1"/>
          </p:cNvSpPr>
          <p:nvPr/>
        </p:nvSpPr>
        <p:spPr>
          <a:xfrm xmlns:a="http://schemas.openxmlformats.org/drawingml/2006/main">
            <a:off x="400050" y="15049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550" b="1">
                <a:solidFill>
                  <a:srgbClr val="FF6B35"/>
                </a:solidFill>
              </a:defRPr>
            </a:pPr>
            <a:r>
              <a:rPr sz="5550" b="1">
                <a:solidFill>
                  <a:srgbClr val="FF6B35"/>
                </a:solidFill>
              </a:rPr>
              <a:t>M8</a:t>
            </a:r>
          </a:p>
        </p:txBody>
      </p:sp>
      <p:sp>
        <p:nvSpPr>
          <p:cNvPr id="3" name="">
            <a:extLst xmlns:a="http://schemas.openxmlformats.org/drawingml/2006/main">
              <a:ext uri="{FF2B5EF4-FFF2-40B4-BE49-F238E27FC236}">
                <a16:creationId xmlns:a16="http://schemas.microsoft.com/office/drawing/2014/main" id="{080BFBEC-FC7D-4D3F-B4D7-8AFF0CD9ED34}"/>
              </a:ext>
            </a:extLst>
          </p:cNvPr>
          <p:cNvSpPr>
            <a:spLocks xmlns:a="http://schemas.openxmlformats.org/drawingml/2006/main" noGrp="1"/>
          </p:cNvSpPr>
          <p:nvPr/>
        </p:nvSpPr>
        <p:spPr>
          <a:xfrm xmlns:a="http://schemas.openxmlformats.org/drawingml/2006/main">
            <a:off x="2266950" y="1543050"/>
            <a:ext cx="666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000000"/>
                </a:solidFill>
              </a:defRPr>
            </a:pPr>
            <a:r>
              <a:rPr sz="4050" b="1">
                <a:solidFill>
                  <a:srgbClr val="000000"/>
                </a:solidFill>
              </a:rPr>
              <a:t>Agent LLM pour Lean 4</a:t>
            </a:r>
          </a:p>
        </p:txBody>
      </p:sp>
      <p:sp>
        <p:nvSpPr>
          <p:cNvPr id="4" name="">
            <a:extLst xmlns:a="http://schemas.openxmlformats.org/drawingml/2006/main">
              <a:ext uri="{FF2B5EF4-FFF2-40B4-BE49-F238E27FC236}">
                <a16:creationId xmlns:a16="http://schemas.microsoft.com/office/drawing/2014/main" id="{B6153051-E894-4C35-BC59-21C03ABCDB10}"/>
              </a:ext>
            </a:extLst>
          </p:cNvPr>
          <p:cNvSpPr>
            <a:spLocks xmlns:a="http://schemas.openxmlformats.org/drawingml/2006/main" noGrp="1"/>
          </p:cNvSpPr>
          <p:nvPr/>
        </p:nvSpPr>
        <p:spPr>
          <a:xfrm xmlns:a="http://schemas.openxmlformats.org/drawingml/2006/main">
            <a:off x="400050" y="28003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0">
                <a:solidFill>
                  <a:srgbClr val="222222"/>
                </a:solidFill>
              </a:defRPr>
            </a:pPr>
            <a:r>
              <a:rPr sz="2400" b="0">
                <a:solidFill>
                  <a:srgbClr val="222222"/>
                </a:solidFill>
              </a:rPr>
              <a:t>Demonstration automatique neuro-symbolique</a:t>
            </a:r>
          </a:p>
        </p:txBody>
      </p:sp>
      <p:sp>
        <p:nvSpPr>
          <p:cNvPr id="5" name="">
            <a:extLst xmlns:a="http://schemas.openxmlformats.org/drawingml/2006/main">
              <a:ext uri="{FF2B5EF4-FFF2-40B4-BE49-F238E27FC236}">
                <a16:creationId xmlns:a16="http://schemas.microsoft.com/office/drawing/2014/main" id="{AE614507-A9CA-4940-9709-52CA2DF0D170}"/>
              </a:ext>
            </a:extLst>
          </p:cNvPr>
          <p:cNvSpPr>
            <a:spLocks xmlns:a="http://schemas.openxmlformats.org/drawingml/2006/main" noGrp="1"/>
          </p:cNvSpPr>
          <p:nvPr/>
        </p:nvSpPr>
        <p:spPr>
          <a:xfrm xmlns:a="http://schemas.openxmlformats.org/drawingml/2006/main">
            <a:off x="400050" y="51435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Arthur &amp; Amaury</a:t>
            </a:r>
          </a:p>
        </p:txBody>
      </p:sp>
      <p:sp>
        <p:nvSpPr>
          <p:cNvPr id="6" name="">
            <a:extLst xmlns:a="http://schemas.openxmlformats.org/drawingml/2006/main">
              <a:ext uri="{FF2B5EF4-FFF2-40B4-BE49-F238E27FC236}">
                <a16:creationId xmlns:a16="http://schemas.microsoft.com/office/drawing/2014/main" id="{54947175-E821-4C3C-9B28-A864CFFD9508}"/>
              </a:ext>
            </a:extLst>
          </p:cNvPr>
          <p:cNvSpPr>
            <a:spLocks xmlns:a="http://schemas.openxmlformats.org/drawingml/2006/main" noGrp="1"/>
          </p:cNvSpPr>
          <p:nvPr/>
        </p:nvSpPr>
        <p:spPr>
          <a:xfrm xmlns:a="http://schemas.openxmlformats.org/drawingml/2006/main">
            <a:off x="8572500" y="1047750"/>
            <a:ext cx="2857500" cy="40005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1819051-A9C5-4437-98C4-0F0F2F9EB3F4}"/>
              </a:ext>
            </a:extLst>
          </p:cNvPr>
          <p:cNvSpPr>
            <a:spLocks xmlns:a="http://schemas.openxmlformats.org/drawingml/2006/main" noGrp="1"/>
          </p:cNvSpPr>
          <p:nvPr/>
        </p:nvSpPr>
        <p:spPr>
          <a:xfrm xmlns:a="http://schemas.openxmlformats.org/drawingml/2006/main">
            <a:off x="8915400" y="1562100"/>
            <a:ext cx="2171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000000"/>
                </a:solidFill>
              </a:defRPr>
            </a:pPr>
            <a:r>
              <a:rPr sz="2700" b="1">
                <a:solidFill>
                  <a:srgbClr val="000000"/>
                </a:solidFill>
              </a:rPr>
              <a:t>LLM</a:t>
            </a:r>
          </a:p>
          <a:p xmlns:a="http://schemas.openxmlformats.org/drawingml/2006/main">
            <a:pPr algn="ctr">
              <a:defRPr sz="2700" b="1">
                <a:solidFill>
                  <a:srgbClr val="000000"/>
                </a:solidFill>
              </a:defRPr>
            </a:pPr>
            <a:r>
              <a:rPr sz="2700" b="1">
                <a:solidFill>
                  <a:srgbClr val="000000"/>
                </a:solidFill>
              </a:rPr>
              <a:t>propose</a:t>
            </a:r>
          </a:p>
        </p:txBody>
      </p:sp>
      <p:sp>
        <p:nvSpPr>
          <p:cNvPr id="8" name="">
            <a:extLst xmlns:a="http://schemas.openxmlformats.org/drawingml/2006/main">
              <a:ext uri="{FF2B5EF4-FFF2-40B4-BE49-F238E27FC236}">
                <a16:creationId xmlns:a16="http://schemas.microsoft.com/office/drawing/2014/main" id="{F2387919-163A-466D-85D7-E8AD348F1143}"/>
              </a:ext>
            </a:extLst>
          </p:cNvPr>
          <p:cNvSpPr>
            <a:spLocks xmlns:a="http://schemas.openxmlformats.org/drawingml/2006/main" noGrp="1"/>
          </p:cNvSpPr>
          <p:nvPr/>
        </p:nvSpPr>
        <p:spPr>
          <a:xfrm xmlns:a="http://schemas.openxmlformats.org/drawingml/2006/main">
            <a:off x="8915400" y="3486150"/>
            <a:ext cx="2171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000000"/>
                </a:solidFill>
              </a:defRPr>
            </a:pPr>
            <a:r>
              <a:rPr sz="2700" b="1">
                <a:solidFill>
                  <a:srgbClr val="000000"/>
                </a:solidFill>
              </a:rPr>
              <a:t>Lean</a:t>
            </a:r>
          </a:p>
          <a:p xmlns:a="http://schemas.openxmlformats.org/drawingml/2006/main">
            <a:pPr algn="ctr">
              <a:defRPr sz="2700" b="1">
                <a:solidFill>
                  <a:srgbClr val="000000"/>
                </a:solidFill>
              </a:defRPr>
            </a:pPr>
            <a:r>
              <a:rPr sz="2700" b="1">
                <a:solidFill>
                  <a:srgbClr val="000000"/>
                </a:solidFill>
              </a:rPr>
              <a:t>verifie</a:t>
            </a:r>
          </a:p>
        </p:txBody>
      </p:sp>
      <p:sp>
        <p:nvSpPr>
          <p:cNvPr id="9" name="">
            <a:extLst xmlns:a="http://schemas.openxmlformats.org/drawingml/2006/main">
              <a:ext uri="{FF2B5EF4-FFF2-40B4-BE49-F238E27FC236}">
                <a16:creationId xmlns:a16="http://schemas.microsoft.com/office/drawing/2014/main" id="{7D34BB6F-35CB-402F-A2BA-9C00914DAEE7}"/>
              </a:ext>
            </a:extLst>
          </p:cNvPr>
          <p:cNvSpPr>
            <a:spLocks xmlns:a="http://schemas.openxmlformats.org/drawingml/2006/main" noGrp="1"/>
          </p:cNvSpPr>
          <p:nvPr/>
        </p:nvSpPr>
        <p:spPr>
          <a:xfrm xmlns:a="http://schemas.openxmlformats.org/drawingml/2006/main">
            <a:off x="9239250" y="2952750"/>
            <a:ext cx="1524000" cy="762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942985-80CA-4F69-A62B-76AFCBD7E91A}"/>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Ouverture</a:t>
            </a:r>
          </a:p>
        </p:txBody>
      </p:sp>
      <p:sp>
        <p:nvSpPr>
          <p:cNvPr id="11" name="">
            <a:extLst xmlns:a="http://schemas.openxmlformats.org/drawingml/2006/main">
              <a:ext uri="{FF2B5EF4-FFF2-40B4-BE49-F238E27FC236}">
                <a16:creationId xmlns:a16="http://schemas.microsoft.com/office/drawing/2014/main" id="{13E48413-8FE5-44E9-A204-D56EC291E08B}"/>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01</a:t>
            </a:r>
          </a:p>
        </p:txBody>
      </p:sp>
    </p:spTree>
    <p:extLst>
      <p:ext uri="{BB962C8B-B14F-4D97-AF65-F5344CB8AC3E}">
        <p14:creationId xmlns:p14="http://schemas.microsoft.com/office/powerpoint/2010/main" val="1330744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E5BB29-867C-4019-A67E-29264ABF3672}"/>
              </a:ext>
            </a:extLst>
          </p:cNvPr>
          <p:cNvSpPr>
            <a:spLocks xmlns:a="http://schemas.openxmlformats.org/drawingml/2006/main" noGrp="1"/>
          </p:cNvSpPr>
          <p:nvPr/>
        </p:nvSpPr>
        <p:spPr>
          <a:xfrm xmlns:a="http://schemas.openxmlformats.org/drawingml/2006/main">
            <a:off x="400050" y="3429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Ce qu'on veut montrer</a:t>
            </a:r>
          </a:p>
        </p:txBody>
      </p:sp>
      <p:sp>
        <p:nvSpPr>
          <p:cNvPr id="2" name="">
            <a:extLst xmlns:a="http://schemas.openxmlformats.org/drawingml/2006/main">
              <a:ext uri="{FF2B5EF4-FFF2-40B4-BE49-F238E27FC236}">
                <a16:creationId xmlns:a16="http://schemas.microsoft.com/office/drawing/2014/main" id="{549CA477-567B-45E9-BFC3-2D63C604DB4C}"/>
              </a:ext>
            </a:extLst>
          </p:cNvPr>
          <p:cNvSpPr>
            <a:spLocks xmlns:a="http://schemas.openxmlformats.org/drawingml/2006/main" noGrp="1"/>
          </p:cNvSpPr>
          <p:nvPr/>
        </p:nvSpPr>
        <p:spPr>
          <a:xfrm xmlns:a="http://schemas.openxmlformats.org/drawingml/2006/main">
            <a:off x="6191250" y="10477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F6B35"/>
                </a:solidFill>
              </a:defRPr>
            </a:pPr>
            <a:r>
              <a:rPr sz="2250" b="1">
                <a:solidFill>
                  <a:srgbClr val="FF6B35"/>
                </a:solidFill>
              </a:rPr>
              <a:t>01</a:t>
            </a:r>
          </a:p>
        </p:txBody>
      </p:sp>
      <p:sp>
        <p:nvSpPr>
          <p:cNvPr id="3" name="">
            <a:extLst xmlns:a="http://schemas.openxmlformats.org/drawingml/2006/main">
              <a:ext uri="{FF2B5EF4-FFF2-40B4-BE49-F238E27FC236}">
                <a16:creationId xmlns:a16="http://schemas.microsoft.com/office/drawing/2014/main" id="{F568E1F8-66DC-42A6-A70D-DE8A90E73BD4}"/>
              </a:ext>
            </a:extLst>
          </p:cNvPr>
          <p:cNvSpPr>
            <a:spLocks xmlns:a="http://schemas.openxmlformats.org/drawingml/2006/main" noGrp="1"/>
          </p:cNvSpPr>
          <p:nvPr/>
        </p:nvSpPr>
        <p:spPr>
          <a:xfrm xmlns:a="http://schemas.openxmlformats.org/drawingml/2006/main">
            <a:off x="7000875" y="10477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defRPr>
            </a:pPr>
            <a:r>
              <a:rPr sz="2250" b="1">
                <a:solidFill>
                  <a:srgbClr val="000000"/>
                </a:solidFill>
              </a:rPr>
              <a:t>Le probleme</a:t>
            </a:r>
          </a:p>
        </p:txBody>
      </p:sp>
      <p:sp>
        <p:nvSpPr>
          <p:cNvPr id="4" name="">
            <a:extLst xmlns:a="http://schemas.openxmlformats.org/drawingml/2006/main">
              <a:ext uri="{FF2B5EF4-FFF2-40B4-BE49-F238E27FC236}">
                <a16:creationId xmlns:a16="http://schemas.microsoft.com/office/drawing/2014/main" id="{F12119D5-3CDB-419C-B75C-E5143B88BC63}"/>
              </a:ext>
            </a:extLst>
          </p:cNvPr>
          <p:cNvSpPr>
            <a:spLocks xmlns:a="http://schemas.openxmlformats.org/drawingml/2006/main" noGrp="1"/>
          </p:cNvSpPr>
          <p:nvPr/>
        </p:nvSpPr>
        <p:spPr>
          <a:xfrm xmlns:a="http://schemas.openxmlformats.org/drawingml/2006/main">
            <a:off x="7000875" y="14478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55555"/>
                </a:solidFill>
              </a:defRPr>
            </a:pPr>
            <a:r>
              <a:rPr sz="1425" b="0">
                <a:solidFill>
                  <a:srgbClr val="555555"/>
                </a:solidFill>
              </a:rPr>
              <a:t>LLM plausible, preuve formelle exigeante</a:t>
            </a:r>
          </a:p>
        </p:txBody>
      </p:sp>
      <p:sp>
        <p:nvSpPr>
          <p:cNvPr id="5" name="">
            <a:extLst xmlns:a="http://schemas.openxmlformats.org/drawingml/2006/main">
              <a:ext uri="{FF2B5EF4-FFF2-40B4-BE49-F238E27FC236}">
                <a16:creationId xmlns:a16="http://schemas.microsoft.com/office/drawing/2014/main" id="{D59692C0-028A-4232-96E9-A7D1D8A0A145}"/>
              </a:ext>
            </a:extLst>
          </p:cNvPr>
          <p:cNvSpPr>
            <a:spLocks xmlns:a="http://schemas.openxmlformats.org/drawingml/2006/main" noGrp="1"/>
          </p:cNvSpPr>
          <p:nvPr/>
        </p:nvSpPr>
        <p:spPr>
          <a:xfrm xmlns:a="http://schemas.openxmlformats.org/drawingml/2006/main">
            <a:off x="6191250" y="19621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F6B35"/>
                </a:solidFill>
              </a:defRPr>
            </a:pPr>
            <a:r>
              <a:rPr sz="2250" b="1">
                <a:solidFill>
                  <a:srgbClr val="FF6B35"/>
                </a:solidFill>
              </a:rPr>
              <a:t>02</a:t>
            </a:r>
          </a:p>
        </p:txBody>
      </p:sp>
      <p:sp>
        <p:nvSpPr>
          <p:cNvPr id="6" name="">
            <a:extLst xmlns:a="http://schemas.openxmlformats.org/drawingml/2006/main">
              <a:ext uri="{FF2B5EF4-FFF2-40B4-BE49-F238E27FC236}">
                <a16:creationId xmlns:a16="http://schemas.microsoft.com/office/drawing/2014/main" id="{CBE2A600-E196-4B7F-947A-8BF903CEF52F}"/>
              </a:ext>
            </a:extLst>
          </p:cNvPr>
          <p:cNvSpPr>
            <a:spLocks xmlns:a="http://schemas.openxmlformats.org/drawingml/2006/main" noGrp="1"/>
          </p:cNvSpPr>
          <p:nvPr/>
        </p:nvSpPr>
        <p:spPr>
          <a:xfrm xmlns:a="http://schemas.openxmlformats.org/drawingml/2006/main">
            <a:off x="7000875" y="19621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defRPr>
            </a:pPr>
            <a:r>
              <a:rPr sz="2250" b="1">
                <a:solidFill>
                  <a:srgbClr val="000000"/>
                </a:solidFill>
              </a:rPr>
              <a:t>Notre boucle</a:t>
            </a:r>
          </a:p>
        </p:txBody>
      </p:sp>
      <p:sp>
        <p:nvSpPr>
          <p:cNvPr id="7" name="">
            <a:extLst xmlns:a="http://schemas.openxmlformats.org/drawingml/2006/main">
              <a:ext uri="{FF2B5EF4-FFF2-40B4-BE49-F238E27FC236}">
                <a16:creationId xmlns:a16="http://schemas.microsoft.com/office/drawing/2014/main" id="{DCEC0DDD-7B01-466D-A7EA-925C880C92CA}"/>
              </a:ext>
            </a:extLst>
          </p:cNvPr>
          <p:cNvSpPr>
            <a:spLocks xmlns:a="http://schemas.openxmlformats.org/drawingml/2006/main" noGrp="1"/>
          </p:cNvSpPr>
          <p:nvPr/>
        </p:nvSpPr>
        <p:spPr>
          <a:xfrm xmlns:a="http://schemas.openxmlformats.org/drawingml/2006/main">
            <a:off x="7000875" y="23622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55555"/>
                </a:solidFill>
              </a:defRPr>
            </a:pPr>
            <a:r>
              <a:rPr sz="1425" b="0">
                <a:solidFill>
                  <a:srgbClr val="555555"/>
                </a:solidFill>
              </a:rPr>
              <a:t>agents, recherche, feedback Lean</a:t>
            </a:r>
          </a:p>
        </p:txBody>
      </p:sp>
      <p:sp>
        <p:nvSpPr>
          <p:cNvPr id="8" name="">
            <a:extLst xmlns:a="http://schemas.openxmlformats.org/drawingml/2006/main">
              <a:ext uri="{FF2B5EF4-FFF2-40B4-BE49-F238E27FC236}">
                <a16:creationId xmlns:a16="http://schemas.microsoft.com/office/drawing/2014/main" id="{CF159BCA-CDD7-4702-93C9-23DF77DA7F8F}"/>
              </a:ext>
            </a:extLst>
          </p:cNvPr>
          <p:cNvSpPr>
            <a:spLocks xmlns:a="http://schemas.openxmlformats.org/drawingml/2006/main" noGrp="1"/>
          </p:cNvSpPr>
          <p:nvPr/>
        </p:nvSpPr>
        <p:spPr>
          <a:xfrm xmlns:a="http://schemas.openxmlformats.org/drawingml/2006/main">
            <a:off x="6191250" y="28765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F6B35"/>
                </a:solidFill>
              </a:defRPr>
            </a:pPr>
            <a:r>
              <a:rPr sz="2250" b="1">
                <a:solidFill>
                  <a:srgbClr val="FF6B35"/>
                </a:solidFill>
              </a:rPr>
              <a:t>03</a:t>
            </a:r>
          </a:p>
        </p:txBody>
      </p:sp>
      <p:sp>
        <p:nvSpPr>
          <p:cNvPr id="9" name="">
            <a:extLst xmlns:a="http://schemas.openxmlformats.org/drawingml/2006/main">
              <a:ext uri="{FF2B5EF4-FFF2-40B4-BE49-F238E27FC236}">
                <a16:creationId xmlns:a16="http://schemas.microsoft.com/office/drawing/2014/main" id="{704FD6AC-F815-460C-B33F-081A6CA6C58E}"/>
              </a:ext>
            </a:extLst>
          </p:cNvPr>
          <p:cNvSpPr>
            <a:spLocks xmlns:a="http://schemas.openxmlformats.org/drawingml/2006/main" noGrp="1"/>
          </p:cNvSpPr>
          <p:nvPr/>
        </p:nvSpPr>
        <p:spPr>
          <a:xfrm xmlns:a="http://schemas.openxmlformats.org/drawingml/2006/main">
            <a:off x="7000875" y="28765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defRPr>
            </a:pPr>
            <a:r>
              <a:rPr sz="2250" b="1">
                <a:solidFill>
                  <a:srgbClr val="000000"/>
                </a:solidFill>
              </a:rPr>
              <a:t>Le livrable</a:t>
            </a:r>
          </a:p>
        </p:txBody>
      </p:sp>
      <p:sp>
        <p:nvSpPr>
          <p:cNvPr id="10" name="">
            <a:extLst xmlns:a="http://schemas.openxmlformats.org/drawingml/2006/main">
              <a:ext uri="{FF2B5EF4-FFF2-40B4-BE49-F238E27FC236}">
                <a16:creationId xmlns:a16="http://schemas.microsoft.com/office/drawing/2014/main" id="{B150105D-3FD0-436F-8F15-338273C00291}"/>
              </a:ext>
            </a:extLst>
          </p:cNvPr>
          <p:cNvSpPr>
            <a:spLocks xmlns:a="http://schemas.openxmlformats.org/drawingml/2006/main" noGrp="1"/>
          </p:cNvSpPr>
          <p:nvPr/>
        </p:nvSpPr>
        <p:spPr>
          <a:xfrm xmlns:a="http://schemas.openxmlformats.org/drawingml/2006/main">
            <a:off x="7000875" y="3276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55555"/>
                </a:solidFill>
              </a:defRPr>
            </a:pPr>
            <a:r>
              <a:rPr sz="1425" b="0">
                <a:solidFill>
                  <a:srgbClr val="555555"/>
                </a:solidFill>
              </a:rPr>
              <a:t>app web, benchmarks, traces replay</a:t>
            </a:r>
          </a:p>
        </p:txBody>
      </p:sp>
      <p:sp>
        <p:nvSpPr>
          <p:cNvPr id="11" name="">
            <a:extLst xmlns:a="http://schemas.openxmlformats.org/drawingml/2006/main">
              <a:ext uri="{FF2B5EF4-FFF2-40B4-BE49-F238E27FC236}">
                <a16:creationId xmlns:a16="http://schemas.microsoft.com/office/drawing/2014/main" id="{68CB4822-44EC-431F-92A1-11C53C3B423B}"/>
              </a:ext>
            </a:extLst>
          </p:cNvPr>
          <p:cNvSpPr>
            <a:spLocks xmlns:a="http://schemas.openxmlformats.org/drawingml/2006/main" noGrp="1"/>
          </p:cNvSpPr>
          <p:nvPr/>
        </p:nvSpPr>
        <p:spPr>
          <a:xfrm xmlns:a="http://schemas.openxmlformats.org/drawingml/2006/main">
            <a:off x="6191250" y="3790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F6B35"/>
                </a:solidFill>
              </a:defRPr>
            </a:pPr>
            <a:r>
              <a:rPr sz="2250" b="1">
                <a:solidFill>
                  <a:srgbClr val="FF6B35"/>
                </a:solidFill>
              </a:rPr>
              <a:t>04</a:t>
            </a:r>
          </a:p>
        </p:txBody>
      </p:sp>
      <p:sp>
        <p:nvSpPr>
          <p:cNvPr id="12" name="">
            <a:extLst xmlns:a="http://schemas.openxmlformats.org/drawingml/2006/main">
              <a:ext uri="{FF2B5EF4-FFF2-40B4-BE49-F238E27FC236}">
                <a16:creationId xmlns:a16="http://schemas.microsoft.com/office/drawing/2014/main" id="{48A729BF-1AA2-42FC-8C9B-6A17858A0403}"/>
              </a:ext>
            </a:extLst>
          </p:cNvPr>
          <p:cNvSpPr>
            <a:spLocks xmlns:a="http://schemas.openxmlformats.org/drawingml/2006/main" noGrp="1"/>
          </p:cNvSpPr>
          <p:nvPr/>
        </p:nvSpPr>
        <p:spPr>
          <a:xfrm xmlns:a="http://schemas.openxmlformats.org/drawingml/2006/main">
            <a:off x="7000875" y="37909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defRPr>
            </a:pPr>
            <a:r>
              <a:rPr sz="2250" b="1">
                <a:solidFill>
                  <a:srgbClr val="000000"/>
                </a:solidFill>
              </a:rPr>
              <a:t>Observations</a:t>
            </a:r>
          </a:p>
        </p:txBody>
      </p:sp>
      <p:sp>
        <p:nvSpPr>
          <p:cNvPr id="13" name="">
            <a:extLst xmlns:a="http://schemas.openxmlformats.org/drawingml/2006/main">
              <a:ext uri="{FF2B5EF4-FFF2-40B4-BE49-F238E27FC236}">
                <a16:creationId xmlns:a16="http://schemas.microsoft.com/office/drawing/2014/main" id="{E8E8A663-13C1-4AE2-9C88-443A7720934A}"/>
              </a:ext>
            </a:extLst>
          </p:cNvPr>
          <p:cNvSpPr>
            <a:spLocks xmlns:a="http://schemas.openxmlformats.org/drawingml/2006/main" noGrp="1"/>
          </p:cNvSpPr>
          <p:nvPr/>
        </p:nvSpPr>
        <p:spPr>
          <a:xfrm xmlns:a="http://schemas.openxmlformats.org/drawingml/2006/main">
            <a:off x="7000875" y="41910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55555"/>
                </a:solidFill>
              </a:defRPr>
            </a:pPr>
            <a:r>
              <a:rPr sz="1425" b="0">
                <a:solidFill>
                  <a:srgbClr val="555555"/>
                </a:solidFill>
              </a:rPr>
              <a:t>ce qui marche, ce qui bloque</a:t>
            </a:r>
          </a:p>
        </p:txBody>
      </p:sp>
      <p:sp>
        <p:nvSpPr>
          <p:cNvPr id="14" name="">
            <a:extLst xmlns:a="http://schemas.openxmlformats.org/drawingml/2006/main">
              <a:ext uri="{FF2B5EF4-FFF2-40B4-BE49-F238E27FC236}">
                <a16:creationId xmlns:a16="http://schemas.microsoft.com/office/drawing/2014/main" id="{575BBF6D-4CB4-48CD-B009-3C3E90156D21}"/>
              </a:ext>
            </a:extLst>
          </p:cNvPr>
          <p:cNvSpPr>
            <a:spLocks xmlns:a="http://schemas.openxmlformats.org/drawingml/2006/main" noGrp="1"/>
          </p:cNvSpPr>
          <p:nvPr/>
        </p:nvSpPr>
        <p:spPr>
          <a:xfrm xmlns:a="http://schemas.openxmlformats.org/drawingml/2006/main">
            <a:off x="6191250" y="47053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F6B35"/>
                </a:solidFill>
              </a:defRPr>
            </a:pPr>
            <a:r>
              <a:rPr sz="2250" b="1">
                <a:solidFill>
                  <a:srgbClr val="FF6B35"/>
                </a:solidFill>
              </a:rPr>
              <a:t>05</a:t>
            </a:r>
          </a:p>
        </p:txBody>
      </p:sp>
      <p:sp>
        <p:nvSpPr>
          <p:cNvPr id="15" name="">
            <a:extLst xmlns:a="http://schemas.openxmlformats.org/drawingml/2006/main">
              <a:ext uri="{FF2B5EF4-FFF2-40B4-BE49-F238E27FC236}">
                <a16:creationId xmlns:a16="http://schemas.microsoft.com/office/drawing/2014/main" id="{84359FA9-6F34-4439-BEAD-65D9745F1BF4}"/>
              </a:ext>
            </a:extLst>
          </p:cNvPr>
          <p:cNvSpPr>
            <a:spLocks xmlns:a="http://schemas.openxmlformats.org/drawingml/2006/main" noGrp="1"/>
          </p:cNvSpPr>
          <p:nvPr/>
        </p:nvSpPr>
        <p:spPr>
          <a:xfrm xmlns:a="http://schemas.openxmlformats.org/drawingml/2006/main">
            <a:off x="7000875" y="47053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defRPr>
            </a:pPr>
            <a:r>
              <a:rPr sz="2250" b="1">
                <a:solidFill>
                  <a:srgbClr val="000000"/>
                </a:solidFill>
              </a:rPr>
              <a:t>Demo</a:t>
            </a:r>
          </a:p>
        </p:txBody>
      </p:sp>
      <p:sp>
        <p:nvSpPr>
          <p:cNvPr id="16" name="">
            <a:extLst xmlns:a="http://schemas.openxmlformats.org/drawingml/2006/main">
              <a:ext uri="{FF2B5EF4-FFF2-40B4-BE49-F238E27FC236}">
                <a16:creationId xmlns:a16="http://schemas.microsoft.com/office/drawing/2014/main" id="{CBE4C197-F2ED-42F5-BE20-13D79B3AA580}"/>
              </a:ext>
            </a:extLst>
          </p:cNvPr>
          <p:cNvSpPr>
            <a:spLocks xmlns:a="http://schemas.openxmlformats.org/drawingml/2006/main" noGrp="1"/>
          </p:cNvSpPr>
          <p:nvPr/>
        </p:nvSpPr>
        <p:spPr>
          <a:xfrm xmlns:a="http://schemas.openxmlformats.org/drawingml/2006/main">
            <a:off x="7000875" y="51054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55555"/>
                </a:solidFill>
              </a:defRPr>
            </a:pPr>
            <a:r>
              <a:rPr sz="1425" b="0">
                <a:solidFill>
                  <a:srgbClr val="555555"/>
                </a:solidFill>
              </a:rPr>
              <a:t>trace rapide puis run live si possible</a:t>
            </a:r>
          </a:p>
        </p:txBody>
      </p:sp>
      <p:sp>
        <p:nvSpPr>
          <p:cNvPr id="17" name="">
            <a:extLst xmlns:a="http://schemas.openxmlformats.org/drawingml/2006/main">
              <a:ext uri="{FF2B5EF4-FFF2-40B4-BE49-F238E27FC236}">
                <a16:creationId xmlns:a16="http://schemas.microsoft.com/office/drawing/2014/main" id="{962EFDC0-1797-4B90-9543-D42414352BFD}"/>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Plan</a:t>
            </a:r>
          </a:p>
        </p:txBody>
      </p:sp>
      <p:sp>
        <p:nvSpPr>
          <p:cNvPr id="18" name="">
            <a:extLst xmlns:a="http://schemas.openxmlformats.org/drawingml/2006/main">
              <a:ext uri="{FF2B5EF4-FFF2-40B4-BE49-F238E27FC236}">
                <a16:creationId xmlns:a16="http://schemas.microsoft.com/office/drawing/2014/main" id="{E8FF554A-FB49-47A8-87D8-A6D2AF6D991A}"/>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02</a:t>
            </a:r>
          </a:p>
        </p:txBody>
      </p:sp>
    </p:spTree>
    <p:extLst>
      <p:ext uri="{BB962C8B-B14F-4D97-AF65-F5344CB8AC3E}">
        <p14:creationId xmlns:p14="http://schemas.microsoft.com/office/powerpoint/2010/main" val="6519372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51B74B-03A9-4455-AC72-F5EADDD4FB22}"/>
              </a:ext>
            </a:extLst>
          </p:cNvPr>
          <p:cNvSpPr>
            <a:spLocks xmlns:a="http://schemas.openxmlformats.org/drawingml/2006/main" noGrp="1"/>
          </p:cNvSpPr>
          <p:nvPr/>
        </p:nvSpPr>
        <p:spPr>
          <a:xfrm xmlns:a="http://schemas.openxmlformats.org/drawingml/2006/main">
            <a:off x="400050" y="3429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Le probleme: un LLM peut produire du Lean plausible mais faux</a:t>
            </a:r>
          </a:p>
        </p:txBody>
      </p:sp>
      <p:sp>
        <p:nvSpPr>
          <p:cNvPr id="2" name="">
            <a:extLst xmlns:a="http://schemas.openxmlformats.org/drawingml/2006/main">
              <a:ext uri="{FF2B5EF4-FFF2-40B4-BE49-F238E27FC236}">
                <a16:creationId xmlns:a16="http://schemas.microsoft.com/office/drawing/2014/main" id="{DD6B3734-7326-4E94-9638-67C33392E9D0}"/>
              </a:ext>
            </a:extLst>
          </p:cNvPr>
          <p:cNvSpPr>
            <a:spLocks xmlns:a="http://schemas.openxmlformats.org/drawingml/2006/main" noGrp="1"/>
          </p:cNvSpPr>
          <p:nvPr/>
        </p:nvSpPr>
        <p:spPr>
          <a:xfrm xmlns:a="http://schemas.openxmlformats.org/drawingml/2006/main">
            <a:off x="666750" y="1809750"/>
            <a:ext cx="76200" cy="12954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854B60-87EA-42E9-8C38-7A5FD8B335E5}"/>
              </a:ext>
            </a:extLst>
          </p:cNvPr>
          <p:cNvSpPr>
            <a:spLocks xmlns:a="http://schemas.openxmlformats.org/drawingml/2006/main" noGrp="1"/>
          </p:cNvSpPr>
          <p:nvPr/>
        </p:nvSpPr>
        <p:spPr>
          <a:xfrm xmlns:a="http://schemas.openxmlformats.org/drawingml/2006/main">
            <a:off x="895350" y="186690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Generation</a:t>
            </a:r>
          </a:p>
        </p:txBody>
      </p:sp>
      <p:sp>
        <p:nvSpPr>
          <p:cNvPr id="4" name="">
            <a:extLst xmlns:a="http://schemas.openxmlformats.org/drawingml/2006/main">
              <a:ext uri="{FF2B5EF4-FFF2-40B4-BE49-F238E27FC236}">
                <a16:creationId xmlns:a16="http://schemas.microsoft.com/office/drawing/2014/main" id="{F028C275-C889-4C8D-BE50-796395771069}"/>
              </a:ext>
            </a:extLst>
          </p:cNvPr>
          <p:cNvSpPr>
            <a:spLocks xmlns:a="http://schemas.openxmlformats.org/drawingml/2006/main" noGrp="1"/>
          </p:cNvSpPr>
          <p:nvPr/>
        </p:nvSpPr>
        <p:spPr>
          <a:xfrm xmlns:a="http://schemas.openxmlformats.org/drawingml/2006/main">
            <a:off x="895350" y="2228850"/>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Le modele peut inventer une tactique ou un lemme qui ressemble a Lean.</a:t>
            </a:r>
          </a:p>
        </p:txBody>
      </p:sp>
      <p:sp>
        <p:nvSpPr>
          <p:cNvPr id="5" name="">
            <a:extLst xmlns:a="http://schemas.openxmlformats.org/drawingml/2006/main">
              <a:ext uri="{FF2B5EF4-FFF2-40B4-BE49-F238E27FC236}">
                <a16:creationId xmlns:a16="http://schemas.microsoft.com/office/drawing/2014/main" id="{8574B2AE-D2B4-4868-AC53-548FEE7EA080}"/>
              </a:ext>
            </a:extLst>
          </p:cNvPr>
          <p:cNvSpPr>
            <a:spLocks xmlns:a="http://schemas.openxmlformats.org/drawingml/2006/main" noGrp="1"/>
          </p:cNvSpPr>
          <p:nvPr/>
        </p:nvSpPr>
        <p:spPr>
          <a:xfrm xmlns:a="http://schemas.openxmlformats.org/drawingml/2006/main">
            <a:off x="4476750" y="1809750"/>
            <a:ext cx="76200" cy="1295400"/>
          </a:xfrm>
          <a:prstGeom xmlns:a="http://schemas.openxmlformats.org/drawingml/2006/main" prst="rect">
            <a:avLst/>
          </a:prstGeom>
          <a:solidFill xmlns:a="http://schemas.openxmlformats.org/drawingml/2006/main">
            <a:srgbClr val="2457D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431679-178F-4D08-8481-4B4D241B5626}"/>
              </a:ext>
            </a:extLst>
          </p:cNvPr>
          <p:cNvSpPr>
            <a:spLocks xmlns:a="http://schemas.openxmlformats.org/drawingml/2006/main" noGrp="1"/>
          </p:cNvSpPr>
          <p:nvPr/>
        </p:nvSpPr>
        <p:spPr>
          <a:xfrm xmlns:a="http://schemas.openxmlformats.org/drawingml/2006/main">
            <a:off x="4705350" y="186690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Verification</a:t>
            </a:r>
          </a:p>
        </p:txBody>
      </p:sp>
      <p:sp>
        <p:nvSpPr>
          <p:cNvPr id="7" name="">
            <a:extLst xmlns:a="http://schemas.openxmlformats.org/drawingml/2006/main">
              <a:ext uri="{FF2B5EF4-FFF2-40B4-BE49-F238E27FC236}">
                <a16:creationId xmlns:a16="http://schemas.microsoft.com/office/drawing/2014/main" id="{47694F82-F740-48D1-82F9-1ECCFFE59A4B}"/>
              </a:ext>
            </a:extLst>
          </p:cNvPr>
          <p:cNvSpPr>
            <a:spLocks xmlns:a="http://schemas.openxmlformats.org/drawingml/2006/main" noGrp="1"/>
          </p:cNvSpPr>
          <p:nvPr/>
        </p:nvSpPr>
        <p:spPr>
          <a:xfrm xmlns:a="http://schemas.openxmlformats.org/drawingml/2006/main">
            <a:off x="4705350" y="2228850"/>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Une preuve n'est valide que si Lean accepte le fichier final.</a:t>
            </a:r>
          </a:p>
        </p:txBody>
      </p:sp>
      <p:sp>
        <p:nvSpPr>
          <p:cNvPr id="8" name="">
            <a:extLst xmlns:a="http://schemas.openxmlformats.org/drawingml/2006/main">
              <a:ext uri="{FF2B5EF4-FFF2-40B4-BE49-F238E27FC236}">
                <a16:creationId xmlns:a16="http://schemas.microsoft.com/office/drawing/2014/main" id="{2224548A-F1E6-4F93-BABF-590E46BE5062}"/>
              </a:ext>
            </a:extLst>
          </p:cNvPr>
          <p:cNvSpPr>
            <a:spLocks xmlns:a="http://schemas.openxmlformats.org/drawingml/2006/main" noGrp="1"/>
          </p:cNvSpPr>
          <p:nvPr/>
        </p:nvSpPr>
        <p:spPr>
          <a:xfrm xmlns:a="http://schemas.openxmlformats.org/drawingml/2006/main">
            <a:off x="8286750" y="1809750"/>
            <a:ext cx="76200" cy="12954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CC3F1DC-72DC-4A5B-8D5C-0DCCEF569E79}"/>
              </a:ext>
            </a:extLst>
          </p:cNvPr>
          <p:cNvSpPr>
            <a:spLocks xmlns:a="http://schemas.openxmlformats.org/drawingml/2006/main" noGrp="1"/>
          </p:cNvSpPr>
          <p:nvPr/>
        </p:nvSpPr>
        <p:spPr>
          <a:xfrm xmlns:a="http://schemas.openxmlformats.org/drawingml/2006/main">
            <a:off x="8515350" y="186690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Reparation</a:t>
            </a:r>
          </a:p>
        </p:txBody>
      </p:sp>
      <p:sp>
        <p:nvSpPr>
          <p:cNvPr id="10" name="">
            <a:extLst xmlns:a="http://schemas.openxmlformats.org/drawingml/2006/main">
              <a:ext uri="{FF2B5EF4-FFF2-40B4-BE49-F238E27FC236}">
                <a16:creationId xmlns:a16="http://schemas.microsoft.com/office/drawing/2014/main" id="{EEDEE514-F60C-4604-B4FF-62D83723D47B}"/>
              </a:ext>
            </a:extLst>
          </p:cNvPr>
          <p:cNvSpPr>
            <a:spLocks xmlns:a="http://schemas.openxmlformats.org/drawingml/2006/main" noGrp="1"/>
          </p:cNvSpPr>
          <p:nvPr/>
        </p:nvSpPr>
        <p:spPr>
          <a:xfrm xmlns:a="http://schemas.openxmlformats.org/drawingml/2006/main">
            <a:off x="8515350" y="2228850"/>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Les erreurs Lean deviennent du signal pour corriger la tentative suivante.</a:t>
            </a:r>
          </a:p>
        </p:txBody>
      </p:sp>
      <p:sp>
        <p:nvSpPr>
          <p:cNvPr id="11" name="">
            <a:extLst xmlns:a="http://schemas.openxmlformats.org/drawingml/2006/main">
              <a:ext uri="{FF2B5EF4-FFF2-40B4-BE49-F238E27FC236}">
                <a16:creationId xmlns:a16="http://schemas.microsoft.com/office/drawing/2014/main" id="{F017FB52-0CFD-4851-B1D6-FBC6FE903804}"/>
              </a:ext>
            </a:extLst>
          </p:cNvPr>
          <p:cNvSpPr>
            <a:spLocks xmlns:a="http://schemas.openxmlformats.org/drawingml/2006/main" noGrp="1"/>
          </p:cNvSpPr>
          <p:nvPr/>
        </p:nvSpPr>
        <p:spPr>
          <a:xfrm xmlns:a="http://schemas.openxmlformats.org/drawingml/2006/main">
            <a:off x="876300" y="4095750"/>
            <a:ext cx="10439400" cy="1028700"/>
          </a:xfrm>
          <a:prstGeom xmlns:a="http://schemas.openxmlformats.org/drawingml/2006/main" prst="rect">
            <a:avLst/>
          </a:prstGeom>
          <a:solidFill xmlns:a="http://schemas.openxmlformats.org/drawingml/2006/main">
            <a:srgbClr val="10182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741D1AB-BF2A-4732-8B6B-365BB863A243}"/>
              </a:ext>
            </a:extLst>
          </p:cNvPr>
          <p:cNvSpPr>
            <a:spLocks xmlns:a="http://schemas.openxmlformats.org/drawingml/2006/main" noGrp="1"/>
          </p:cNvSpPr>
          <p:nvPr/>
        </p:nvSpPr>
        <p:spPr>
          <a:xfrm xmlns:a="http://schemas.openxmlformats.org/drawingml/2006/main">
            <a:off x="1123950" y="43243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EDF3FF"/>
                </a:solidFill>
              </a:defRPr>
            </a:pPr>
            <a:r>
              <a:rPr sz="1425" b="0">
                <a:solidFill>
                  <a:srgbClr val="EDF3FF"/>
                </a:solidFill>
              </a:rPr>
              <a:t>theorem smoke_and_swap (p q : Prop) : p ∧ q → q ∧ p := by</a:t>
            </a:r>
          </a:p>
          <a:p xmlns:a="http://schemas.openxmlformats.org/drawingml/2006/main">
            <a:pPr algn="l">
              <a:defRPr sz="1425" b="0">
                <a:solidFill>
                  <a:srgbClr val="EDF3FF"/>
                </a:solidFill>
              </a:defRPr>
            </a:pPr>
            <a:r>
              <a:rPr sz="1425" b="0">
                <a:solidFill>
                  <a:srgbClr val="EDF3FF"/>
                </a:solidFill>
              </a:rPr>
              <a:t>  -- une preuve plausible n'est pas une preuve valide tant que Lean ne l'a pas acceptee</a:t>
            </a:r>
          </a:p>
        </p:txBody>
      </p:sp>
      <p:sp>
        <p:nvSpPr>
          <p:cNvPr id="13" name="">
            <a:extLst xmlns:a="http://schemas.openxmlformats.org/drawingml/2006/main">
              <a:ext uri="{FF2B5EF4-FFF2-40B4-BE49-F238E27FC236}">
                <a16:creationId xmlns:a16="http://schemas.microsoft.com/office/drawing/2014/main" id="{50898DB1-C4FC-4A64-82F8-B47B246EDBCA}"/>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Probleme</a:t>
            </a:r>
          </a:p>
        </p:txBody>
      </p:sp>
      <p:sp>
        <p:nvSpPr>
          <p:cNvPr id="14" name="">
            <a:extLst xmlns:a="http://schemas.openxmlformats.org/drawingml/2006/main">
              <a:ext uri="{FF2B5EF4-FFF2-40B4-BE49-F238E27FC236}">
                <a16:creationId xmlns:a16="http://schemas.microsoft.com/office/drawing/2014/main" id="{D49E36ED-E9B5-4FB0-8DBC-089D1256E3B2}"/>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03</a:t>
            </a:r>
          </a:p>
        </p:txBody>
      </p:sp>
    </p:spTree>
    <p:extLst>
      <p:ext uri="{BB962C8B-B14F-4D97-AF65-F5344CB8AC3E}">
        <p14:creationId xmlns:p14="http://schemas.microsoft.com/office/powerpoint/2010/main" val="11252740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D5A654-D149-4C04-A7E4-D482B5535FE6}"/>
              </a:ext>
            </a:extLst>
          </p:cNvPr>
          <p:cNvSpPr>
            <a:spLocks xmlns:a="http://schemas.openxmlformats.org/drawingml/2006/main" noGrp="1"/>
          </p:cNvSpPr>
          <p:nvPr/>
        </p:nvSpPr>
        <p:spPr>
          <a:xfrm xmlns:a="http://schemas.openxmlformats.org/drawingml/2006/main">
            <a:off x="400050" y="342900"/>
            <a:ext cx="723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Notre principe: proposer, verifier, reparer</a:t>
            </a:r>
          </a:p>
        </p:txBody>
      </p:sp>
      <p:sp>
        <p:nvSpPr>
          <p:cNvPr id="2" name="">
            <a:extLst xmlns:a="http://schemas.openxmlformats.org/drawingml/2006/main">
              <a:ext uri="{FF2B5EF4-FFF2-40B4-BE49-F238E27FC236}">
                <a16:creationId xmlns:a16="http://schemas.microsoft.com/office/drawing/2014/main" id="{DCC19E6B-99FF-49B9-8DEF-BF2EBB30ABB5}"/>
              </a:ext>
            </a:extLst>
          </p:cNvPr>
          <p:cNvSpPr>
            <a:spLocks xmlns:a="http://schemas.openxmlformats.org/drawingml/2006/main" noGrp="1"/>
          </p:cNvSpPr>
          <p:nvPr/>
        </p:nvSpPr>
        <p:spPr>
          <a:xfrm xmlns:a="http://schemas.openxmlformats.org/drawingml/2006/main">
            <a:off x="857250" y="2381250"/>
            <a:ext cx="209550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A485EA68-4F67-4630-8B7D-69E550BB46A5}"/>
              </a:ext>
            </a:extLst>
          </p:cNvPr>
          <p:cNvSpPr>
            <a:spLocks xmlns:a="http://schemas.openxmlformats.org/drawingml/2006/main" noGrp="1"/>
          </p:cNvSpPr>
          <p:nvPr/>
        </p:nvSpPr>
        <p:spPr>
          <a:xfrm xmlns:a="http://schemas.openxmlformats.org/drawingml/2006/main">
            <a:off x="1028700" y="25908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Decomposer</a:t>
            </a:r>
          </a:p>
        </p:txBody>
      </p:sp>
      <p:sp>
        <p:nvSpPr>
          <p:cNvPr id="4" name="">
            <a:extLst xmlns:a="http://schemas.openxmlformats.org/drawingml/2006/main">
              <a:ext uri="{FF2B5EF4-FFF2-40B4-BE49-F238E27FC236}">
                <a16:creationId xmlns:a16="http://schemas.microsoft.com/office/drawing/2014/main" id="{C3E2BC9D-3D98-4D56-9FE0-6B2A6FA23A23}"/>
              </a:ext>
            </a:extLst>
          </p:cNvPr>
          <p:cNvSpPr>
            <a:spLocks xmlns:a="http://schemas.openxmlformats.org/drawingml/2006/main" noGrp="1"/>
          </p:cNvSpPr>
          <p:nvPr/>
        </p:nvSpPr>
        <p:spPr>
          <a:xfrm xmlns:a="http://schemas.openxmlformats.org/drawingml/2006/main">
            <a:off x="1028700" y="300990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55555"/>
                </a:solidFill>
              </a:defRPr>
            </a:pPr>
            <a:r>
              <a:rPr sz="1275" b="0">
                <a:solidFill>
                  <a:srgbClr val="555555"/>
                </a:solidFill>
              </a:rPr>
              <a:t>plan / tactiques attendues</a:t>
            </a:r>
          </a:p>
        </p:txBody>
      </p:sp>
      <p:sp>
        <p:nvSpPr>
          <p:cNvPr id="5" name="">
            <a:extLst xmlns:a="http://schemas.openxmlformats.org/drawingml/2006/main">
              <a:ext uri="{FF2B5EF4-FFF2-40B4-BE49-F238E27FC236}">
                <a16:creationId xmlns:a16="http://schemas.microsoft.com/office/drawing/2014/main" id="{00BFB8F8-9540-4195-BE75-D87B4FB30D88}"/>
              </a:ext>
            </a:extLst>
          </p:cNvPr>
          <p:cNvSpPr>
            <a:spLocks xmlns:a="http://schemas.openxmlformats.org/drawingml/2006/main" noGrp="1"/>
          </p:cNvSpPr>
          <p:nvPr/>
        </p:nvSpPr>
        <p:spPr>
          <a:xfrm xmlns:a="http://schemas.openxmlformats.org/drawingml/2006/main">
            <a:off x="3524250" y="2381250"/>
            <a:ext cx="209550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D8CF6454-01F7-4706-A066-92C3DCEB0C49}"/>
              </a:ext>
            </a:extLst>
          </p:cNvPr>
          <p:cNvSpPr>
            <a:spLocks xmlns:a="http://schemas.openxmlformats.org/drawingml/2006/main" noGrp="1"/>
          </p:cNvSpPr>
          <p:nvPr/>
        </p:nvSpPr>
        <p:spPr>
          <a:xfrm xmlns:a="http://schemas.openxmlformats.org/drawingml/2006/main">
            <a:off x="3695700" y="25908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Tactic agent</a:t>
            </a:r>
          </a:p>
        </p:txBody>
      </p:sp>
      <p:sp>
        <p:nvSpPr>
          <p:cNvPr id="7" name="">
            <a:extLst xmlns:a="http://schemas.openxmlformats.org/drawingml/2006/main">
              <a:ext uri="{FF2B5EF4-FFF2-40B4-BE49-F238E27FC236}">
                <a16:creationId xmlns:a16="http://schemas.microsoft.com/office/drawing/2014/main" id="{E993EBEA-3DB8-4F43-BDFF-D89C2A96364C}"/>
              </a:ext>
            </a:extLst>
          </p:cNvPr>
          <p:cNvSpPr>
            <a:spLocks xmlns:a="http://schemas.openxmlformats.org/drawingml/2006/main" noGrp="1"/>
          </p:cNvSpPr>
          <p:nvPr/>
        </p:nvSpPr>
        <p:spPr>
          <a:xfrm xmlns:a="http://schemas.openxmlformats.org/drawingml/2006/main">
            <a:off x="3695700" y="300990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55555"/>
                </a:solidFill>
              </a:defRPr>
            </a:pPr>
            <a:r>
              <a:rPr sz="1275" b="0">
                <a:solidFill>
                  <a:srgbClr val="555555"/>
                </a:solidFill>
              </a:rPr>
              <a:t>candidats beam ou MCTS</a:t>
            </a:r>
          </a:p>
        </p:txBody>
      </p:sp>
      <p:sp>
        <p:nvSpPr>
          <p:cNvPr id="8" name="">
            <a:extLst xmlns:a="http://schemas.openxmlformats.org/drawingml/2006/main">
              <a:ext uri="{FF2B5EF4-FFF2-40B4-BE49-F238E27FC236}">
                <a16:creationId xmlns:a16="http://schemas.microsoft.com/office/drawing/2014/main" id="{9EB81BAF-127F-4A47-BC4F-254DE7D173AC}"/>
              </a:ext>
            </a:extLst>
          </p:cNvPr>
          <p:cNvSpPr>
            <a:spLocks xmlns:a="http://schemas.openxmlformats.org/drawingml/2006/main" noGrp="1"/>
          </p:cNvSpPr>
          <p:nvPr/>
        </p:nvSpPr>
        <p:spPr>
          <a:xfrm xmlns:a="http://schemas.openxmlformats.org/drawingml/2006/main">
            <a:off x="6191250" y="2381250"/>
            <a:ext cx="209550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7B1308F0-09EB-438F-860D-452252A20E86}"/>
              </a:ext>
            </a:extLst>
          </p:cNvPr>
          <p:cNvSpPr>
            <a:spLocks xmlns:a="http://schemas.openxmlformats.org/drawingml/2006/main" noGrp="1"/>
          </p:cNvSpPr>
          <p:nvPr/>
        </p:nvSpPr>
        <p:spPr>
          <a:xfrm xmlns:a="http://schemas.openxmlformats.org/drawingml/2006/main">
            <a:off x="6362700" y="25908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Lean verifier</a:t>
            </a:r>
          </a:p>
        </p:txBody>
      </p:sp>
      <p:sp>
        <p:nvSpPr>
          <p:cNvPr id="10" name="">
            <a:extLst xmlns:a="http://schemas.openxmlformats.org/drawingml/2006/main">
              <a:ext uri="{FF2B5EF4-FFF2-40B4-BE49-F238E27FC236}">
                <a16:creationId xmlns:a16="http://schemas.microsoft.com/office/drawing/2014/main" id="{DBF6B6A9-3AF8-4B0D-9401-E45954B251B7}"/>
              </a:ext>
            </a:extLst>
          </p:cNvPr>
          <p:cNvSpPr>
            <a:spLocks xmlns:a="http://schemas.openxmlformats.org/drawingml/2006/main" noGrp="1"/>
          </p:cNvSpPr>
          <p:nvPr/>
        </p:nvSpPr>
        <p:spPr>
          <a:xfrm xmlns:a="http://schemas.openxmlformats.org/drawingml/2006/main">
            <a:off x="6362700" y="300990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55555"/>
                </a:solidFill>
              </a:defRPr>
            </a:pPr>
            <a:r>
              <a:rPr sz="1275" b="0">
                <a:solidFill>
                  <a:srgbClr val="555555"/>
                </a:solidFill>
              </a:rPr>
              <a:t>subprocess lean / lake env lean</a:t>
            </a:r>
          </a:p>
        </p:txBody>
      </p:sp>
      <p:sp>
        <p:nvSpPr>
          <p:cNvPr id="11" name="">
            <a:extLst xmlns:a="http://schemas.openxmlformats.org/drawingml/2006/main">
              <a:ext uri="{FF2B5EF4-FFF2-40B4-BE49-F238E27FC236}">
                <a16:creationId xmlns:a16="http://schemas.microsoft.com/office/drawing/2014/main" id="{060BAC23-46B4-4933-98DB-353C05147082}"/>
              </a:ext>
            </a:extLst>
          </p:cNvPr>
          <p:cNvSpPr>
            <a:spLocks xmlns:a="http://schemas.openxmlformats.org/drawingml/2006/main" noGrp="1"/>
          </p:cNvSpPr>
          <p:nvPr/>
        </p:nvSpPr>
        <p:spPr>
          <a:xfrm xmlns:a="http://schemas.openxmlformats.org/drawingml/2006/main">
            <a:off x="8858250" y="2381250"/>
            <a:ext cx="209550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AA905EAE-4AE3-4181-ACC7-082855CE6E6B}"/>
              </a:ext>
            </a:extLst>
          </p:cNvPr>
          <p:cNvSpPr>
            <a:spLocks xmlns:a="http://schemas.openxmlformats.org/drawingml/2006/main" noGrp="1"/>
          </p:cNvSpPr>
          <p:nvPr/>
        </p:nvSpPr>
        <p:spPr>
          <a:xfrm xmlns:a="http://schemas.openxmlformats.org/drawingml/2006/main">
            <a:off x="9029700" y="25908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Repair agent</a:t>
            </a:r>
          </a:p>
        </p:txBody>
      </p:sp>
      <p:sp>
        <p:nvSpPr>
          <p:cNvPr id="13" name="">
            <a:extLst xmlns:a="http://schemas.openxmlformats.org/drawingml/2006/main">
              <a:ext uri="{FF2B5EF4-FFF2-40B4-BE49-F238E27FC236}">
                <a16:creationId xmlns:a16="http://schemas.microsoft.com/office/drawing/2014/main" id="{724266F0-E65D-4F7C-AAFC-80877CE99A48}"/>
              </a:ext>
            </a:extLst>
          </p:cNvPr>
          <p:cNvSpPr>
            <a:spLocks xmlns:a="http://schemas.openxmlformats.org/drawingml/2006/main" noGrp="1"/>
          </p:cNvSpPr>
          <p:nvPr/>
        </p:nvSpPr>
        <p:spPr>
          <a:xfrm xmlns:a="http://schemas.openxmlformats.org/drawingml/2006/main">
            <a:off x="9029700" y="300990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55555"/>
                </a:solidFill>
              </a:defRPr>
            </a:pPr>
            <a:r>
              <a:rPr sz="1275" b="0">
                <a:solidFill>
                  <a:srgbClr val="555555"/>
                </a:solidFill>
              </a:rPr>
              <a:t>feedback d'erreur</a:t>
            </a:r>
          </a:p>
        </p:txBody>
      </p:sp>
      <p:sp>
        <p:nvSpPr>
          <p:cNvPr id="14" name="">
            <a:extLst xmlns:a="http://schemas.openxmlformats.org/drawingml/2006/main">
              <a:ext uri="{FF2B5EF4-FFF2-40B4-BE49-F238E27FC236}">
                <a16:creationId xmlns:a16="http://schemas.microsoft.com/office/drawing/2014/main" id="{DF0A368E-31A8-4861-ABC2-690425B3083E}"/>
              </a:ext>
            </a:extLst>
          </p:cNvPr>
          <p:cNvSpPr>
            <a:spLocks xmlns:a="http://schemas.openxmlformats.org/drawingml/2006/main" noGrp="1"/>
          </p:cNvSpPr>
          <p:nvPr/>
        </p:nvSpPr>
        <p:spPr>
          <a:xfrm xmlns:a="http://schemas.openxmlformats.org/drawingml/2006/main">
            <a:off x="3048000" y="2952750"/>
            <a:ext cx="342900"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9CF38D-03E5-4A3B-8347-2274024D305E}"/>
              </a:ext>
            </a:extLst>
          </p:cNvPr>
          <p:cNvSpPr>
            <a:spLocks xmlns:a="http://schemas.openxmlformats.org/drawingml/2006/main" noGrp="1"/>
          </p:cNvSpPr>
          <p:nvPr/>
        </p:nvSpPr>
        <p:spPr>
          <a:xfrm xmlns:a="http://schemas.openxmlformats.org/drawingml/2006/main">
            <a:off x="3333750" y="2876550"/>
            <a:ext cx="133350" cy="2095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0E58709-ADD1-4856-8343-028573F5CFBF}"/>
              </a:ext>
            </a:extLst>
          </p:cNvPr>
          <p:cNvSpPr>
            <a:spLocks xmlns:a="http://schemas.openxmlformats.org/drawingml/2006/main" noGrp="1"/>
          </p:cNvSpPr>
          <p:nvPr/>
        </p:nvSpPr>
        <p:spPr>
          <a:xfrm xmlns:a="http://schemas.openxmlformats.org/drawingml/2006/main">
            <a:off x="5715000" y="2952750"/>
            <a:ext cx="342900"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96A12FE-659B-4F04-93B2-16BC9F35AED2}"/>
              </a:ext>
            </a:extLst>
          </p:cNvPr>
          <p:cNvSpPr>
            <a:spLocks xmlns:a="http://schemas.openxmlformats.org/drawingml/2006/main" noGrp="1"/>
          </p:cNvSpPr>
          <p:nvPr/>
        </p:nvSpPr>
        <p:spPr>
          <a:xfrm xmlns:a="http://schemas.openxmlformats.org/drawingml/2006/main">
            <a:off x="6000750" y="2876550"/>
            <a:ext cx="133350" cy="2095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C9743F2-5538-41D3-A355-491B6A1D09CA}"/>
              </a:ext>
            </a:extLst>
          </p:cNvPr>
          <p:cNvSpPr>
            <a:spLocks xmlns:a="http://schemas.openxmlformats.org/drawingml/2006/main" noGrp="1"/>
          </p:cNvSpPr>
          <p:nvPr/>
        </p:nvSpPr>
        <p:spPr>
          <a:xfrm xmlns:a="http://schemas.openxmlformats.org/drawingml/2006/main">
            <a:off x="8382000" y="2952750"/>
            <a:ext cx="342900"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BD52273-88F7-4C78-B200-5FDEBC8F5AC4}"/>
              </a:ext>
            </a:extLst>
          </p:cNvPr>
          <p:cNvSpPr>
            <a:spLocks xmlns:a="http://schemas.openxmlformats.org/drawingml/2006/main" noGrp="1"/>
          </p:cNvSpPr>
          <p:nvPr/>
        </p:nvSpPr>
        <p:spPr>
          <a:xfrm xmlns:a="http://schemas.openxmlformats.org/drawingml/2006/main">
            <a:off x="8667750" y="2876550"/>
            <a:ext cx="133350" cy="2095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35F0F9-D3B1-49AA-BF5E-CF4BA3CBB724}"/>
              </a:ext>
            </a:extLst>
          </p:cNvPr>
          <p:cNvSpPr>
            <a:spLocks xmlns:a="http://schemas.openxmlformats.org/drawingml/2006/main" noGrp="1"/>
          </p:cNvSpPr>
          <p:nvPr/>
        </p:nvSpPr>
        <p:spPr>
          <a:xfrm xmlns:a="http://schemas.openxmlformats.org/drawingml/2006/main">
            <a:off x="6191250" y="4238625"/>
            <a:ext cx="2114550" cy="76200"/>
          </a:xfrm>
          <a:prstGeom xmlns:a="http://schemas.openxmlformats.org/drawingml/2006/main" prst="rect">
            <a:avLst/>
          </a:prstGeom>
          <a:solidFill xmlns:a="http://schemas.openxmlformats.org/drawingml/2006/main">
            <a:srgbClr val="2457D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33B9DF2-8784-4A6C-B4C0-20F95CF2D3C9}"/>
              </a:ext>
            </a:extLst>
          </p:cNvPr>
          <p:cNvSpPr>
            <a:spLocks xmlns:a="http://schemas.openxmlformats.org/drawingml/2006/main" noGrp="1"/>
          </p:cNvSpPr>
          <p:nvPr/>
        </p:nvSpPr>
        <p:spPr>
          <a:xfrm xmlns:a="http://schemas.openxmlformats.org/drawingml/2006/main">
            <a:off x="3714750" y="46291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00000"/>
                </a:solidFill>
              </a:defRPr>
            </a:pPr>
            <a:r>
              <a:rPr sz="1875" b="1">
                <a:solidFill>
                  <a:srgbClr val="000000"/>
                </a:solidFill>
              </a:rPr>
              <a:t>Frontiere de confiance: succes uniquement si Lean accepte.</a:t>
            </a:r>
          </a:p>
        </p:txBody>
      </p:sp>
      <p:sp>
        <p:nvSpPr>
          <p:cNvPr id="22" name="">
            <a:extLst xmlns:a="http://schemas.openxmlformats.org/drawingml/2006/main">
              <a:ext uri="{FF2B5EF4-FFF2-40B4-BE49-F238E27FC236}">
                <a16:creationId xmlns:a16="http://schemas.microsoft.com/office/drawing/2014/main" id="{86692686-F0C1-414D-AF9B-8A4DB301AA26}"/>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Approche</a:t>
            </a:r>
          </a:p>
        </p:txBody>
      </p:sp>
      <p:sp>
        <p:nvSpPr>
          <p:cNvPr id="23" name="">
            <a:extLst xmlns:a="http://schemas.openxmlformats.org/drawingml/2006/main">
              <a:ext uri="{FF2B5EF4-FFF2-40B4-BE49-F238E27FC236}">
                <a16:creationId xmlns:a16="http://schemas.microsoft.com/office/drawing/2014/main" id="{0571104B-5736-4A2D-8D07-B92EE20C039C}"/>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04</a:t>
            </a:r>
          </a:p>
        </p:txBody>
      </p:sp>
    </p:spTree>
    <p:extLst>
      <p:ext uri="{BB962C8B-B14F-4D97-AF65-F5344CB8AC3E}">
        <p14:creationId xmlns:p14="http://schemas.microsoft.com/office/powerpoint/2010/main" val="14512451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57B95A-AD6E-4F70-8D65-95D09B9C6F38}"/>
              </a:ext>
            </a:extLst>
          </p:cNvPr>
          <p:cNvSpPr>
            <a:spLocks xmlns:a="http://schemas.openxmlformats.org/drawingml/2006/main" noGrp="1"/>
          </p:cNvSpPr>
          <p:nvPr/>
        </p:nvSpPr>
        <p:spPr>
          <a:xfrm xmlns:a="http://schemas.openxmlformats.org/drawingml/2006/main">
            <a:off x="400050" y="342900"/>
            <a:ext cx="666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Architecture de l'application</a:t>
            </a:r>
          </a:p>
        </p:txBody>
      </p:sp>
      <p:sp>
        <p:nvSpPr>
          <p:cNvPr id="2" name="">
            <a:extLst xmlns:a="http://schemas.openxmlformats.org/drawingml/2006/main">
              <a:ext uri="{FF2B5EF4-FFF2-40B4-BE49-F238E27FC236}">
                <a16:creationId xmlns:a16="http://schemas.microsoft.com/office/drawing/2014/main" id="{AAF9A306-980E-4E80-86A8-6A52639ABFDF}"/>
              </a:ext>
            </a:extLst>
          </p:cNvPr>
          <p:cNvSpPr>
            <a:spLocks xmlns:a="http://schemas.openxmlformats.org/drawingml/2006/main" noGrp="1"/>
          </p:cNvSpPr>
          <p:nvPr/>
        </p:nvSpPr>
        <p:spPr>
          <a:xfrm xmlns:a="http://schemas.openxmlformats.org/drawingml/2006/main">
            <a:off x="590550" y="1619250"/>
            <a:ext cx="4286250" cy="7429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17ADADB6-0607-4B20-A673-DB370E3E9EF5}"/>
              </a:ext>
            </a:extLst>
          </p:cNvPr>
          <p:cNvSpPr>
            <a:spLocks xmlns:a="http://schemas.openxmlformats.org/drawingml/2006/main" noGrp="1"/>
          </p:cNvSpPr>
          <p:nvPr/>
        </p:nvSpPr>
        <p:spPr>
          <a:xfrm xmlns:a="http://schemas.openxmlformats.org/drawingml/2006/main">
            <a:off x="800100" y="17430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API Python</a:t>
            </a:r>
          </a:p>
        </p:txBody>
      </p:sp>
      <p:sp>
        <p:nvSpPr>
          <p:cNvPr id="4" name="">
            <a:extLst xmlns:a="http://schemas.openxmlformats.org/drawingml/2006/main">
              <a:ext uri="{FF2B5EF4-FFF2-40B4-BE49-F238E27FC236}">
                <a16:creationId xmlns:a16="http://schemas.microsoft.com/office/drawing/2014/main" id="{58005F71-FB44-4578-B13E-870765CF9C70}"/>
              </a:ext>
            </a:extLst>
          </p:cNvPr>
          <p:cNvSpPr>
            <a:spLocks xmlns:a="http://schemas.openxmlformats.org/drawingml/2006/main" noGrp="1"/>
          </p:cNvSpPr>
          <p:nvPr/>
        </p:nvSpPr>
        <p:spPr>
          <a:xfrm xmlns:a="http://schemas.openxmlformats.org/drawingml/2006/main">
            <a:off x="800100" y="20288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55555"/>
                </a:solidFill>
              </a:defRPr>
            </a:pPr>
            <a:r>
              <a:rPr sz="1275" b="0">
                <a:solidFill>
                  <a:srgbClr val="555555"/>
                </a:solidFill>
              </a:rPr>
              <a:t>/api/run, /api/replay, /api/run-suite</a:t>
            </a:r>
          </a:p>
        </p:txBody>
      </p:sp>
      <p:sp>
        <p:nvSpPr>
          <p:cNvPr id="5" name="">
            <a:extLst xmlns:a="http://schemas.openxmlformats.org/drawingml/2006/main">
              <a:ext uri="{FF2B5EF4-FFF2-40B4-BE49-F238E27FC236}">
                <a16:creationId xmlns:a16="http://schemas.microsoft.com/office/drawing/2014/main" id="{FF969081-5D3D-424E-9AE6-A8F4096A0527}"/>
              </a:ext>
            </a:extLst>
          </p:cNvPr>
          <p:cNvSpPr>
            <a:spLocks xmlns:a="http://schemas.openxmlformats.org/drawingml/2006/main" noGrp="1"/>
          </p:cNvSpPr>
          <p:nvPr/>
        </p:nvSpPr>
        <p:spPr>
          <a:xfrm xmlns:a="http://schemas.openxmlformats.org/drawingml/2006/main">
            <a:off x="590550" y="2533650"/>
            <a:ext cx="4286250" cy="7429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73E3F920-3D06-413E-B965-FE07F4F64721}"/>
              </a:ext>
            </a:extLst>
          </p:cNvPr>
          <p:cNvSpPr>
            <a:spLocks xmlns:a="http://schemas.openxmlformats.org/drawingml/2006/main" noGrp="1"/>
          </p:cNvSpPr>
          <p:nvPr/>
        </p:nvSpPr>
        <p:spPr>
          <a:xfrm xmlns:a="http://schemas.openxmlformats.org/drawingml/2006/main">
            <a:off x="800100" y="26574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Modeles Pydantic</a:t>
            </a:r>
          </a:p>
        </p:txBody>
      </p:sp>
      <p:sp>
        <p:nvSpPr>
          <p:cNvPr id="7" name="">
            <a:extLst xmlns:a="http://schemas.openxmlformats.org/drawingml/2006/main">
              <a:ext uri="{FF2B5EF4-FFF2-40B4-BE49-F238E27FC236}">
                <a16:creationId xmlns:a16="http://schemas.microsoft.com/office/drawing/2014/main" id="{B80B7E0D-AA84-4739-94EF-2A6B6CAEBC76}"/>
              </a:ext>
            </a:extLst>
          </p:cNvPr>
          <p:cNvSpPr>
            <a:spLocks xmlns:a="http://schemas.openxmlformats.org/drawingml/2006/main" noGrp="1"/>
          </p:cNvSpPr>
          <p:nvPr/>
        </p:nvSpPr>
        <p:spPr>
          <a:xfrm xmlns:a="http://schemas.openxmlformats.org/drawingml/2006/main">
            <a:off x="800100" y="29432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55555"/>
                </a:solidFill>
              </a:defRPr>
            </a:pPr>
            <a:r>
              <a:rPr sz="1275" b="0">
                <a:solidFill>
                  <a:srgbClr val="555555"/>
                </a:solidFill>
              </a:rPr>
              <a:t>Benchmark, RunRequest, ProofTrace</a:t>
            </a:r>
          </a:p>
        </p:txBody>
      </p:sp>
      <p:sp>
        <p:nvSpPr>
          <p:cNvPr id="8" name="">
            <a:extLst xmlns:a="http://schemas.openxmlformats.org/drawingml/2006/main">
              <a:ext uri="{FF2B5EF4-FFF2-40B4-BE49-F238E27FC236}">
                <a16:creationId xmlns:a16="http://schemas.microsoft.com/office/drawing/2014/main" id="{F1654714-2365-4D58-BCCB-4562D142C354}"/>
              </a:ext>
            </a:extLst>
          </p:cNvPr>
          <p:cNvSpPr>
            <a:spLocks xmlns:a="http://schemas.openxmlformats.org/drawingml/2006/main" noGrp="1"/>
          </p:cNvSpPr>
          <p:nvPr/>
        </p:nvSpPr>
        <p:spPr>
          <a:xfrm xmlns:a="http://schemas.openxmlformats.org/drawingml/2006/main">
            <a:off x="590550" y="3448050"/>
            <a:ext cx="4286250" cy="7429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FA06D100-FB7C-4669-9A65-0D0655F65674}"/>
              </a:ext>
            </a:extLst>
          </p:cNvPr>
          <p:cNvSpPr>
            <a:spLocks xmlns:a="http://schemas.openxmlformats.org/drawingml/2006/main" noGrp="1"/>
          </p:cNvSpPr>
          <p:nvPr/>
        </p:nvSpPr>
        <p:spPr>
          <a:xfrm xmlns:a="http://schemas.openxmlformats.org/drawingml/2006/main">
            <a:off x="800100" y="35718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Verifier Lean</a:t>
            </a:r>
          </a:p>
        </p:txBody>
      </p:sp>
      <p:sp>
        <p:nvSpPr>
          <p:cNvPr id="10" name="">
            <a:extLst xmlns:a="http://schemas.openxmlformats.org/drawingml/2006/main">
              <a:ext uri="{FF2B5EF4-FFF2-40B4-BE49-F238E27FC236}">
                <a16:creationId xmlns:a16="http://schemas.microsoft.com/office/drawing/2014/main" id="{76F6A8ED-93D1-4ADC-BB7B-99608EB10735}"/>
              </a:ext>
            </a:extLst>
          </p:cNvPr>
          <p:cNvSpPr>
            <a:spLocks xmlns:a="http://schemas.openxmlformats.org/drawingml/2006/main" noGrp="1"/>
          </p:cNvSpPr>
          <p:nvPr/>
        </p:nvSpPr>
        <p:spPr>
          <a:xfrm xmlns:a="http://schemas.openxmlformats.org/drawingml/2006/main">
            <a:off x="800100" y="38576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55555"/>
                </a:solidFill>
              </a:defRPr>
            </a:pPr>
            <a:r>
              <a:rPr sz="1275" b="0">
                <a:solidFill>
                  <a:srgbClr val="555555"/>
                </a:solidFill>
              </a:rPr>
              <a:t>lean ou lake env lean</a:t>
            </a:r>
          </a:p>
        </p:txBody>
      </p:sp>
      <p:sp>
        <p:nvSpPr>
          <p:cNvPr id="11" name="">
            <a:extLst xmlns:a="http://schemas.openxmlformats.org/drawingml/2006/main">
              <a:ext uri="{FF2B5EF4-FFF2-40B4-BE49-F238E27FC236}">
                <a16:creationId xmlns:a16="http://schemas.microsoft.com/office/drawing/2014/main" id="{5ECFDFCA-77F1-4963-8455-06460D19AE2E}"/>
              </a:ext>
            </a:extLst>
          </p:cNvPr>
          <p:cNvSpPr>
            <a:spLocks xmlns:a="http://schemas.openxmlformats.org/drawingml/2006/main" noGrp="1"/>
          </p:cNvSpPr>
          <p:nvPr/>
        </p:nvSpPr>
        <p:spPr>
          <a:xfrm xmlns:a="http://schemas.openxmlformats.org/drawingml/2006/main">
            <a:off x="590550" y="4362450"/>
            <a:ext cx="4286250" cy="7429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9C36ED90-2408-4C9A-B7BE-F8B0A1D4404D}"/>
              </a:ext>
            </a:extLst>
          </p:cNvPr>
          <p:cNvSpPr>
            <a:spLocks xmlns:a="http://schemas.openxmlformats.org/drawingml/2006/main" noGrp="1"/>
          </p:cNvSpPr>
          <p:nvPr/>
        </p:nvSpPr>
        <p:spPr>
          <a:xfrm xmlns:a="http://schemas.openxmlformats.org/drawingml/2006/main">
            <a:off x="800100" y="4486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Trace JSON</a:t>
            </a:r>
          </a:p>
        </p:txBody>
      </p:sp>
      <p:sp>
        <p:nvSpPr>
          <p:cNvPr id="13" name="">
            <a:extLst xmlns:a="http://schemas.openxmlformats.org/drawingml/2006/main">
              <a:ext uri="{FF2B5EF4-FFF2-40B4-BE49-F238E27FC236}">
                <a16:creationId xmlns:a16="http://schemas.microsoft.com/office/drawing/2014/main" id="{64D81950-FEFA-4EA4-BB40-0E140A5D11B9}"/>
              </a:ext>
            </a:extLst>
          </p:cNvPr>
          <p:cNvSpPr>
            <a:spLocks xmlns:a="http://schemas.openxmlformats.org/drawingml/2006/main" noGrp="1"/>
          </p:cNvSpPr>
          <p:nvPr/>
        </p:nvSpPr>
        <p:spPr>
          <a:xfrm xmlns:a="http://schemas.openxmlformats.org/drawingml/2006/main">
            <a:off x="800100" y="47720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55555"/>
                </a:solidFill>
              </a:defRPr>
            </a:pPr>
            <a:r>
              <a:rPr sz="1275" b="0">
                <a:solidFill>
                  <a:srgbClr val="555555"/>
                </a:solidFill>
              </a:rPr>
              <a:t>replay fiable pour la soutenance</a:t>
            </a:r>
          </a:p>
        </p:txBody>
      </p:sp>
      <p:sp>
        <p:nvSpPr>
          <p:cNvPr id="14" name="">
            <a:extLst xmlns:a="http://schemas.openxmlformats.org/drawingml/2006/main">
              <a:ext uri="{FF2B5EF4-FFF2-40B4-BE49-F238E27FC236}">
                <a16:creationId xmlns:a16="http://schemas.microsoft.com/office/drawing/2014/main" id="{BDC4A698-CC21-4F69-9CA3-BB541E3A43E8}"/>
              </a:ext>
            </a:extLst>
          </p:cNvPr>
          <p:cNvSpPr>
            <a:spLocks xmlns:a="http://schemas.openxmlformats.org/drawingml/2006/main" noGrp="1"/>
          </p:cNvSpPr>
          <p:nvPr/>
        </p:nvSpPr>
        <p:spPr>
          <a:xfrm xmlns:a="http://schemas.openxmlformats.org/drawingml/2006/main">
            <a:off x="5810250" y="1600200"/>
            <a:ext cx="5334000" cy="3790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5B893760-D5DD-430F-9EF7-25FE1D71389D}"/>
              </a:ext>
            </a:extLst>
          </p:cNvPr>
          <p:cNvSpPr>
            <a:spLocks xmlns:a="http://schemas.openxmlformats.org/drawingml/2006/main" noGrp="1"/>
          </p:cNvSpPr>
          <p:nvPr/>
        </p:nvSpPr>
        <p:spPr>
          <a:xfrm xmlns:a="http://schemas.openxmlformats.org/drawingml/2006/main">
            <a:off x="60960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defRPr>
            </a:pPr>
            <a:r>
              <a:rPr sz="2250" b="1">
                <a:solidFill>
                  <a:srgbClr val="000000"/>
                </a:solidFill>
              </a:rPr>
              <a:t>Interface de demo</a:t>
            </a:r>
          </a:p>
        </p:txBody>
      </p:sp>
      <p:sp>
        <p:nvSpPr>
          <p:cNvPr id="16" name="">
            <a:extLst xmlns:a="http://schemas.openxmlformats.org/drawingml/2006/main">
              <a:ext uri="{FF2B5EF4-FFF2-40B4-BE49-F238E27FC236}">
                <a16:creationId xmlns:a16="http://schemas.microsoft.com/office/drawing/2014/main" id="{02BF6020-B6A3-4A99-BF8D-C0346F8D8457}"/>
              </a:ext>
            </a:extLst>
          </p:cNvPr>
          <p:cNvSpPr>
            <a:spLocks xmlns:a="http://schemas.openxmlformats.org/drawingml/2006/main" noGrp="1"/>
          </p:cNvSpPr>
          <p:nvPr/>
        </p:nvSpPr>
        <p:spPr>
          <a:xfrm xmlns:a="http://schemas.openxmlformats.org/drawingml/2006/main">
            <a:off x="6096000" y="2324100"/>
            <a:ext cx="438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22222"/>
                </a:solidFill>
              </a:defRPr>
            </a:pPr>
            <a:r>
              <a:rPr sz="1650" b="0">
                <a:solidFill>
                  <a:srgbClr val="222222"/>
                </a:solidFill>
              </a:rPr>
              <a:t>Choisir le benchmark, la strategie et le mode; inspecter la timeline et la preuve finale.</a:t>
            </a:r>
          </a:p>
        </p:txBody>
      </p:sp>
      <p:sp>
        <p:nvSpPr>
          <p:cNvPr id="17" name="">
            <a:extLst xmlns:a="http://schemas.openxmlformats.org/drawingml/2006/main">
              <a:ext uri="{FF2B5EF4-FFF2-40B4-BE49-F238E27FC236}">
                <a16:creationId xmlns:a16="http://schemas.microsoft.com/office/drawing/2014/main" id="{A52E4A99-1C98-44F7-9CF2-8B1B7599652A}"/>
              </a:ext>
            </a:extLst>
          </p:cNvPr>
          <p:cNvSpPr>
            <a:spLocks xmlns:a="http://schemas.openxmlformats.org/drawingml/2006/main" noGrp="1"/>
          </p:cNvSpPr>
          <p:nvPr/>
        </p:nvSpPr>
        <p:spPr>
          <a:xfrm xmlns:a="http://schemas.openxmlformats.org/drawingml/2006/main">
            <a:off x="6096000" y="348615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defRPr>
            </a:pPr>
            <a:r>
              <a:rPr sz="1950" b="1">
                <a:solidFill>
                  <a:srgbClr val="000000"/>
                </a:solidFill>
              </a:rPr>
              <a:t>Strategies: beam search stable, MCTS experimental sur prefixes de preuve.</a:t>
            </a:r>
          </a:p>
        </p:txBody>
      </p:sp>
      <p:sp>
        <p:nvSpPr>
          <p:cNvPr id="18" name="">
            <a:extLst xmlns:a="http://schemas.openxmlformats.org/drawingml/2006/main">
              <a:ext uri="{FF2B5EF4-FFF2-40B4-BE49-F238E27FC236}">
                <a16:creationId xmlns:a16="http://schemas.microsoft.com/office/drawing/2014/main" id="{B1936712-5C4D-470B-9415-51345FA5D8BB}"/>
              </a:ext>
            </a:extLst>
          </p:cNvPr>
          <p:cNvSpPr>
            <a:spLocks xmlns:a="http://schemas.openxmlformats.org/drawingml/2006/main" noGrp="1"/>
          </p:cNvSpPr>
          <p:nvPr/>
        </p:nvSpPr>
        <p:spPr>
          <a:xfrm xmlns:a="http://schemas.openxmlformats.org/drawingml/2006/main">
            <a:off x="6096000" y="4667250"/>
            <a:ext cx="4000500" cy="762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A85506-2471-4DCE-968E-FD06A4CAFFE2}"/>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Implementation</a:t>
            </a:r>
          </a:p>
        </p:txBody>
      </p:sp>
      <p:sp>
        <p:nvSpPr>
          <p:cNvPr id="20" name="">
            <a:extLst xmlns:a="http://schemas.openxmlformats.org/drawingml/2006/main">
              <a:ext uri="{FF2B5EF4-FFF2-40B4-BE49-F238E27FC236}">
                <a16:creationId xmlns:a16="http://schemas.microsoft.com/office/drawing/2014/main" id="{9034317C-ACA8-4CC8-91B2-71357B5FB1FE}"/>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05</a:t>
            </a:r>
          </a:p>
        </p:txBody>
      </p:sp>
    </p:spTree>
    <p:extLst>
      <p:ext uri="{BB962C8B-B14F-4D97-AF65-F5344CB8AC3E}">
        <p14:creationId xmlns:p14="http://schemas.microsoft.com/office/powerpoint/2010/main" val="19452428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252E47-14D7-41AB-8501-EF0E1D84F04B}"/>
              </a:ext>
            </a:extLst>
          </p:cNvPr>
          <p:cNvSpPr>
            <a:spLocks xmlns:a="http://schemas.openxmlformats.org/drawingml/2006/main" noGrp="1"/>
          </p:cNvSpPr>
          <p:nvPr/>
        </p:nvSpPr>
        <p:spPr>
          <a:xfrm xmlns:a="http://schemas.openxmlformats.org/drawingml/2006/main">
            <a:off x="400050" y="342900"/>
            <a:ext cx="666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Ce qui a ete realise</a:t>
            </a:r>
          </a:p>
        </p:txBody>
      </p:sp>
      <p:sp>
        <p:nvSpPr>
          <p:cNvPr id="2" name="">
            <a:extLst xmlns:a="http://schemas.openxmlformats.org/drawingml/2006/main">
              <a:ext uri="{FF2B5EF4-FFF2-40B4-BE49-F238E27FC236}">
                <a16:creationId xmlns:a16="http://schemas.microsoft.com/office/drawing/2014/main" id="{648A2285-54B4-424E-9AFB-0773007882E5}"/>
              </a:ext>
            </a:extLst>
          </p:cNvPr>
          <p:cNvSpPr>
            <a:spLocks xmlns:a="http://schemas.openxmlformats.org/drawingml/2006/main" noGrp="1"/>
          </p:cNvSpPr>
          <p:nvPr/>
        </p:nvSpPr>
        <p:spPr>
          <a:xfrm xmlns:a="http://schemas.openxmlformats.org/drawingml/2006/main">
            <a:off x="590550" y="1695450"/>
            <a:ext cx="23812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FDC7EE9A-A11E-44F6-80EC-59338412A9DA}"/>
              </a:ext>
            </a:extLst>
          </p:cNvPr>
          <p:cNvSpPr>
            <a:spLocks xmlns:a="http://schemas.openxmlformats.org/drawingml/2006/main" noGrp="1"/>
          </p:cNvSpPr>
          <p:nvPr/>
        </p:nvSpPr>
        <p:spPr>
          <a:xfrm xmlns:a="http://schemas.openxmlformats.org/drawingml/2006/main">
            <a:off x="819150" y="2095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a:solidFill>
                  <a:srgbClr val="000000"/>
                </a:solidFill>
              </a:defRPr>
            </a:pPr>
            <a:r>
              <a:rPr sz="4350" b="1">
                <a:solidFill>
                  <a:srgbClr val="000000"/>
                </a:solidFill>
              </a:rPr>
              <a:t>3</a:t>
            </a:r>
          </a:p>
        </p:txBody>
      </p:sp>
      <p:sp>
        <p:nvSpPr>
          <p:cNvPr id="4" name="">
            <a:extLst xmlns:a="http://schemas.openxmlformats.org/drawingml/2006/main">
              <a:ext uri="{FF2B5EF4-FFF2-40B4-BE49-F238E27FC236}">
                <a16:creationId xmlns:a16="http://schemas.microsoft.com/office/drawing/2014/main" id="{564DC37C-F71F-4AC4-B202-C8B2635B5105}"/>
              </a:ext>
            </a:extLst>
          </p:cNvPr>
          <p:cNvSpPr>
            <a:spLocks xmlns:a="http://schemas.openxmlformats.org/drawingml/2006/main" noGrp="1"/>
          </p:cNvSpPr>
          <p:nvPr/>
        </p:nvSpPr>
        <p:spPr>
          <a:xfrm xmlns:a="http://schemas.openxmlformats.org/drawingml/2006/main">
            <a:off x="838200" y="28956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55555"/>
                </a:solidFill>
              </a:defRPr>
            </a:pPr>
            <a:r>
              <a:rPr sz="1500" b="0">
                <a:solidFill>
                  <a:srgbClr val="555555"/>
                </a:solidFill>
              </a:rPr>
              <a:t>theoremes smoke</a:t>
            </a:r>
          </a:p>
        </p:txBody>
      </p:sp>
      <p:sp>
        <p:nvSpPr>
          <p:cNvPr id="5" name="">
            <a:extLst xmlns:a="http://schemas.openxmlformats.org/drawingml/2006/main">
              <a:ext uri="{FF2B5EF4-FFF2-40B4-BE49-F238E27FC236}">
                <a16:creationId xmlns:a16="http://schemas.microsoft.com/office/drawing/2014/main" id="{BAEA37FE-5A17-4459-B7CE-ADB78D493F63}"/>
              </a:ext>
            </a:extLst>
          </p:cNvPr>
          <p:cNvSpPr>
            <a:spLocks xmlns:a="http://schemas.openxmlformats.org/drawingml/2006/main" noGrp="1"/>
          </p:cNvSpPr>
          <p:nvPr/>
        </p:nvSpPr>
        <p:spPr>
          <a:xfrm xmlns:a="http://schemas.openxmlformats.org/drawingml/2006/main">
            <a:off x="3371850" y="1695450"/>
            <a:ext cx="23812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6C5651D0-67A6-4B93-8A4E-6B576516B391}"/>
              </a:ext>
            </a:extLst>
          </p:cNvPr>
          <p:cNvSpPr>
            <a:spLocks xmlns:a="http://schemas.openxmlformats.org/drawingml/2006/main" noGrp="1"/>
          </p:cNvSpPr>
          <p:nvPr/>
        </p:nvSpPr>
        <p:spPr>
          <a:xfrm xmlns:a="http://schemas.openxmlformats.org/drawingml/2006/main">
            <a:off x="3600450" y="2095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a:solidFill>
                  <a:srgbClr val="000000"/>
                </a:solidFill>
              </a:defRPr>
            </a:pPr>
            <a:r>
              <a:rPr sz="4350" b="1">
                <a:solidFill>
                  <a:srgbClr val="000000"/>
                </a:solidFill>
              </a:rPr>
              <a:t>8</a:t>
            </a:r>
          </a:p>
        </p:txBody>
      </p:sp>
      <p:sp>
        <p:nvSpPr>
          <p:cNvPr id="7" name="">
            <a:extLst xmlns:a="http://schemas.openxmlformats.org/drawingml/2006/main">
              <a:ext uri="{FF2B5EF4-FFF2-40B4-BE49-F238E27FC236}">
                <a16:creationId xmlns:a16="http://schemas.microsoft.com/office/drawing/2014/main" id="{B56F52F1-14D9-4DBF-9ADE-14E925CBFD35}"/>
              </a:ext>
            </a:extLst>
          </p:cNvPr>
          <p:cNvSpPr>
            <a:spLocks xmlns:a="http://schemas.openxmlformats.org/drawingml/2006/main" noGrp="1"/>
          </p:cNvSpPr>
          <p:nvPr/>
        </p:nvSpPr>
        <p:spPr>
          <a:xfrm xmlns:a="http://schemas.openxmlformats.org/drawingml/2006/main">
            <a:off x="3619500" y="28956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55555"/>
                </a:solidFill>
              </a:defRPr>
            </a:pPr>
            <a:r>
              <a:rPr sz="1500" b="0">
                <a:solidFill>
                  <a:srgbClr val="555555"/>
                </a:solidFill>
              </a:rPr>
              <a:t>miniF2F subset</a:t>
            </a:r>
          </a:p>
        </p:txBody>
      </p:sp>
      <p:sp>
        <p:nvSpPr>
          <p:cNvPr id="8" name="">
            <a:extLst xmlns:a="http://schemas.openxmlformats.org/drawingml/2006/main">
              <a:ext uri="{FF2B5EF4-FFF2-40B4-BE49-F238E27FC236}">
                <a16:creationId xmlns:a16="http://schemas.microsoft.com/office/drawing/2014/main" id="{510791B6-C29A-408B-8C56-FC1807242F1D}"/>
              </a:ext>
            </a:extLst>
          </p:cNvPr>
          <p:cNvSpPr>
            <a:spLocks xmlns:a="http://schemas.openxmlformats.org/drawingml/2006/main" noGrp="1"/>
          </p:cNvSpPr>
          <p:nvPr/>
        </p:nvSpPr>
        <p:spPr>
          <a:xfrm xmlns:a="http://schemas.openxmlformats.org/drawingml/2006/main">
            <a:off x="6153150" y="1695450"/>
            <a:ext cx="23812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DF51B8C2-79FC-4F74-A55F-63E29FE8AB93}"/>
              </a:ext>
            </a:extLst>
          </p:cNvPr>
          <p:cNvSpPr>
            <a:spLocks xmlns:a="http://schemas.openxmlformats.org/drawingml/2006/main" noGrp="1"/>
          </p:cNvSpPr>
          <p:nvPr/>
        </p:nvSpPr>
        <p:spPr>
          <a:xfrm xmlns:a="http://schemas.openxmlformats.org/drawingml/2006/main">
            <a:off x="6381750" y="2095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a:solidFill>
                  <a:srgbClr val="FF6B35"/>
                </a:solidFill>
              </a:defRPr>
            </a:pPr>
            <a:r>
              <a:rPr sz="4350" b="1">
                <a:solidFill>
                  <a:srgbClr val="FF6B35"/>
                </a:solidFill>
              </a:rPr>
              <a:t>488</a:t>
            </a:r>
          </a:p>
        </p:txBody>
      </p:sp>
      <p:sp>
        <p:nvSpPr>
          <p:cNvPr id="10" name="">
            <a:extLst xmlns:a="http://schemas.openxmlformats.org/drawingml/2006/main">
              <a:ext uri="{FF2B5EF4-FFF2-40B4-BE49-F238E27FC236}">
                <a16:creationId xmlns:a16="http://schemas.microsoft.com/office/drawing/2014/main" id="{3B3463F9-EAE5-4178-B5B5-6C4BF602D6F1}"/>
              </a:ext>
            </a:extLst>
          </p:cNvPr>
          <p:cNvSpPr>
            <a:spLocks xmlns:a="http://schemas.openxmlformats.org/drawingml/2006/main" noGrp="1"/>
          </p:cNvSpPr>
          <p:nvPr/>
        </p:nvSpPr>
        <p:spPr>
          <a:xfrm xmlns:a="http://schemas.openxmlformats.org/drawingml/2006/main">
            <a:off x="6400800" y="28956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55555"/>
                </a:solidFill>
              </a:defRPr>
            </a:pPr>
            <a:r>
              <a:rPr sz="1500" b="0">
                <a:solidFill>
                  <a:srgbClr val="555555"/>
                </a:solidFill>
              </a:rPr>
              <a:t>miniF2F-v2 importes</a:t>
            </a:r>
          </a:p>
        </p:txBody>
      </p:sp>
      <p:sp>
        <p:nvSpPr>
          <p:cNvPr id="11" name="">
            <a:extLst xmlns:a="http://schemas.openxmlformats.org/drawingml/2006/main">
              <a:ext uri="{FF2B5EF4-FFF2-40B4-BE49-F238E27FC236}">
                <a16:creationId xmlns:a16="http://schemas.microsoft.com/office/drawing/2014/main" id="{378642EB-1D97-4276-AC8C-73ECF9D72208}"/>
              </a:ext>
            </a:extLst>
          </p:cNvPr>
          <p:cNvSpPr>
            <a:spLocks xmlns:a="http://schemas.openxmlformats.org/drawingml/2006/main" noGrp="1"/>
          </p:cNvSpPr>
          <p:nvPr/>
        </p:nvSpPr>
        <p:spPr>
          <a:xfrm xmlns:a="http://schemas.openxmlformats.org/drawingml/2006/main">
            <a:off x="8934450" y="1695450"/>
            <a:ext cx="23812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34A99A68-0310-4F15-8318-AA698D607AFF}"/>
              </a:ext>
            </a:extLst>
          </p:cNvPr>
          <p:cNvSpPr>
            <a:spLocks xmlns:a="http://schemas.openxmlformats.org/drawingml/2006/main" noGrp="1"/>
          </p:cNvSpPr>
          <p:nvPr/>
        </p:nvSpPr>
        <p:spPr>
          <a:xfrm xmlns:a="http://schemas.openxmlformats.org/drawingml/2006/main">
            <a:off x="9163050" y="2095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a:solidFill>
                  <a:srgbClr val="000000"/>
                </a:solidFill>
              </a:defRPr>
            </a:pPr>
            <a:r>
              <a:rPr sz="4350" b="1">
                <a:solidFill>
                  <a:srgbClr val="000000"/>
                </a:solidFill>
              </a:rPr>
              <a:t>12</a:t>
            </a:r>
          </a:p>
        </p:txBody>
      </p:sp>
      <p:sp>
        <p:nvSpPr>
          <p:cNvPr id="13" name="">
            <a:extLst xmlns:a="http://schemas.openxmlformats.org/drawingml/2006/main">
              <a:ext uri="{FF2B5EF4-FFF2-40B4-BE49-F238E27FC236}">
                <a16:creationId xmlns:a16="http://schemas.microsoft.com/office/drawing/2014/main" id="{53ADFD38-509E-4661-ABD9-6ADEA28426B2}"/>
              </a:ext>
            </a:extLst>
          </p:cNvPr>
          <p:cNvSpPr>
            <a:spLocks xmlns:a="http://schemas.openxmlformats.org/drawingml/2006/main" noGrp="1"/>
          </p:cNvSpPr>
          <p:nvPr/>
        </p:nvSpPr>
        <p:spPr>
          <a:xfrm xmlns:a="http://schemas.openxmlformats.org/drawingml/2006/main">
            <a:off x="9182100" y="289560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55555"/>
                </a:solidFill>
              </a:defRPr>
            </a:pPr>
            <a:r>
              <a:rPr sz="1500" b="0">
                <a:solidFill>
                  <a:srgbClr val="555555"/>
                </a:solidFill>
              </a:rPr>
              <a:t>tests unitaires OK</a:t>
            </a:r>
          </a:p>
        </p:txBody>
      </p:sp>
      <p:sp>
        <p:nvSpPr>
          <p:cNvPr id="14" name="">
            <a:extLst xmlns:a="http://schemas.openxmlformats.org/drawingml/2006/main">
              <a:ext uri="{FF2B5EF4-FFF2-40B4-BE49-F238E27FC236}">
                <a16:creationId xmlns:a16="http://schemas.microsoft.com/office/drawing/2014/main" id="{48512315-B36D-4837-B14F-2E5D2F6CFF0D}"/>
              </a:ext>
            </a:extLst>
          </p:cNvPr>
          <p:cNvSpPr>
            <a:spLocks xmlns:a="http://schemas.openxmlformats.org/drawingml/2006/main" noGrp="1"/>
          </p:cNvSpPr>
          <p:nvPr/>
        </p:nvSpPr>
        <p:spPr>
          <a:xfrm xmlns:a="http://schemas.openxmlformats.org/drawingml/2006/main">
            <a:off x="1143000" y="4476750"/>
            <a:ext cx="76200" cy="1047750"/>
          </a:xfrm>
          <a:prstGeom xmlns:a="http://schemas.openxmlformats.org/drawingml/2006/main" prst="rect">
            <a:avLst/>
          </a:prstGeom>
          <a:solidFill xmlns:a="http://schemas.openxmlformats.org/drawingml/2006/main">
            <a:srgbClr val="2457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C3C7C3-18CE-4A68-A8C3-E1DA7F466FAB}"/>
              </a:ext>
            </a:extLst>
          </p:cNvPr>
          <p:cNvSpPr>
            <a:spLocks xmlns:a="http://schemas.openxmlformats.org/drawingml/2006/main" noGrp="1"/>
          </p:cNvSpPr>
          <p:nvPr/>
        </p:nvSpPr>
        <p:spPr>
          <a:xfrm xmlns:a="http://schemas.openxmlformats.org/drawingml/2006/main">
            <a:off x="1371600" y="4533900"/>
            <a:ext cx="434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Replay mode</a:t>
            </a:r>
          </a:p>
        </p:txBody>
      </p:sp>
      <p:sp>
        <p:nvSpPr>
          <p:cNvPr id="16" name="">
            <a:extLst xmlns:a="http://schemas.openxmlformats.org/drawingml/2006/main">
              <a:ext uri="{FF2B5EF4-FFF2-40B4-BE49-F238E27FC236}">
                <a16:creationId xmlns:a16="http://schemas.microsoft.com/office/drawing/2014/main" id="{3DC7C307-BF8B-44A9-A95C-79B4FBD9D97A}"/>
              </a:ext>
            </a:extLst>
          </p:cNvPr>
          <p:cNvSpPr>
            <a:spLocks xmlns:a="http://schemas.openxmlformats.org/drawingml/2006/main" noGrp="1"/>
          </p:cNvSpPr>
          <p:nvPr/>
        </p:nvSpPr>
        <p:spPr>
          <a:xfrm xmlns:a="http://schemas.openxmlformats.org/drawingml/2006/main">
            <a:off x="1371600" y="4895850"/>
            <a:ext cx="4343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Les traces sont produites par les runs reels puis rejouees pour securiser la demonstration.</a:t>
            </a:r>
          </a:p>
        </p:txBody>
      </p:sp>
      <p:sp>
        <p:nvSpPr>
          <p:cNvPr id="17" name="">
            <a:extLst xmlns:a="http://schemas.openxmlformats.org/drawingml/2006/main">
              <a:ext uri="{FF2B5EF4-FFF2-40B4-BE49-F238E27FC236}">
                <a16:creationId xmlns:a16="http://schemas.microsoft.com/office/drawing/2014/main" id="{11224210-E168-4067-88BF-1A93FCABC1F4}"/>
              </a:ext>
            </a:extLst>
          </p:cNvPr>
          <p:cNvSpPr>
            <a:spLocks xmlns:a="http://schemas.openxmlformats.org/drawingml/2006/main" noGrp="1"/>
          </p:cNvSpPr>
          <p:nvPr/>
        </p:nvSpPr>
        <p:spPr>
          <a:xfrm xmlns:a="http://schemas.openxmlformats.org/drawingml/2006/main">
            <a:off x="6477000" y="4476750"/>
            <a:ext cx="76200" cy="10477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E2A35B-2F2C-41E0-9547-7F6DEBE3F794}"/>
              </a:ext>
            </a:extLst>
          </p:cNvPr>
          <p:cNvSpPr>
            <a:spLocks xmlns:a="http://schemas.openxmlformats.org/drawingml/2006/main" noGrp="1"/>
          </p:cNvSpPr>
          <p:nvPr/>
        </p:nvSpPr>
        <p:spPr>
          <a:xfrm xmlns:a="http://schemas.openxmlformats.org/drawingml/2006/main">
            <a:off x="6705600" y="4533900"/>
            <a:ext cx="434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Real mode</a:t>
            </a:r>
          </a:p>
        </p:txBody>
      </p:sp>
      <p:sp>
        <p:nvSpPr>
          <p:cNvPr id="19" name="">
            <a:extLst xmlns:a="http://schemas.openxmlformats.org/drawingml/2006/main">
              <a:ext uri="{FF2B5EF4-FFF2-40B4-BE49-F238E27FC236}">
                <a16:creationId xmlns:a16="http://schemas.microsoft.com/office/drawing/2014/main" id="{79DFC924-2AB6-47CE-BF56-EA1C6043F066}"/>
              </a:ext>
            </a:extLst>
          </p:cNvPr>
          <p:cNvSpPr>
            <a:spLocks xmlns:a="http://schemas.openxmlformats.org/drawingml/2006/main" noGrp="1"/>
          </p:cNvSpPr>
          <p:nvPr/>
        </p:nvSpPr>
        <p:spPr>
          <a:xfrm xmlns:a="http://schemas.openxmlformats.org/drawingml/2006/main">
            <a:off x="6705600" y="4895850"/>
            <a:ext cx="4343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Un provider LLM genere les candidats; Lean verifie localement chaque preuve.</a:t>
            </a:r>
          </a:p>
        </p:txBody>
      </p:sp>
      <p:sp>
        <p:nvSpPr>
          <p:cNvPr id="20" name="">
            <a:extLst xmlns:a="http://schemas.openxmlformats.org/drawingml/2006/main">
              <a:ext uri="{FF2B5EF4-FFF2-40B4-BE49-F238E27FC236}">
                <a16:creationId xmlns:a16="http://schemas.microsoft.com/office/drawing/2014/main" id="{CE858F7D-5D5C-4102-B2C5-311E367897AE}"/>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Livrable</a:t>
            </a:r>
          </a:p>
        </p:txBody>
      </p:sp>
      <p:sp>
        <p:nvSpPr>
          <p:cNvPr id="21" name="">
            <a:extLst xmlns:a="http://schemas.openxmlformats.org/drawingml/2006/main">
              <a:ext uri="{FF2B5EF4-FFF2-40B4-BE49-F238E27FC236}">
                <a16:creationId xmlns:a16="http://schemas.microsoft.com/office/drawing/2014/main" id="{D14BA5C8-D443-4272-AF55-8E9B87B1BF86}"/>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06</a:t>
            </a:r>
          </a:p>
        </p:txBody>
      </p:sp>
    </p:spTree>
    <p:extLst>
      <p:ext uri="{BB962C8B-B14F-4D97-AF65-F5344CB8AC3E}">
        <p14:creationId xmlns:p14="http://schemas.microsoft.com/office/powerpoint/2010/main" val="2522530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8E6DBC-2E93-4DD5-9D54-8AA12F2F79D1}"/>
              </a:ext>
            </a:extLst>
          </p:cNvPr>
          <p:cNvSpPr>
            <a:spLocks xmlns:a="http://schemas.openxmlformats.org/drawingml/2006/main" noGrp="1"/>
          </p:cNvSpPr>
          <p:nvPr/>
        </p:nvSpPr>
        <p:spPr>
          <a:xfrm xmlns:a="http://schemas.openxmlformats.org/drawingml/2006/main">
            <a:off x="400050" y="342900"/>
            <a:ext cx="5048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Observations</a:t>
            </a:r>
          </a:p>
        </p:txBody>
      </p:sp>
      <p:graphicFrame>
        <p:nvGraphicFramePr>
          <p:cNvPr id="10" name="Chart"/>
          <p:cNvGraphicFramePr/>
          <p:nvPr/>
        </p:nvGraphicFramePr>
        <p:xfrm>
          <a:off xmlns:a="http://schemas.openxmlformats.org/drawingml/2006/main" x="571500" y="1524000"/>
          <a:ext xmlns:a="http://schemas.openxmlformats.org/drawingml/2006/main" cx="5429250" cy="3524250"/>
        </p:xfrm>
        <a:graphic xmlns:a="http://schemas.openxmlformats.org/drawingml/2006/main">
          <a:graphicData uri="http://schemas.openxmlformats.org/drawingml/2006/chart">
            <c:chart xmlns:r="http://schemas.openxmlformats.org/officeDocument/2006/relationships" xmlns:c="http://schemas.openxmlformats.org/drawingml/2006/chart" r:id="R4fab19dcd2264b2c"/>
          </a:graphicData>
        </a:graphic>
      </p:graphicFrame>
      <p:sp>
        <p:nvSpPr>
          <p:cNvPr id="3" name="">
            <a:extLst xmlns:a="http://schemas.openxmlformats.org/drawingml/2006/main">
              <a:ext uri="{FF2B5EF4-FFF2-40B4-BE49-F238E27FC236}">
                <a16:creationId xmlns:a16="http://schemas.microsoft.com/office/drawing/2014/main" id="{2CFFB689-8784-489F-9761-2F904FF84869}"/>
              </a:ext>
            </a:extLst>
          </p:cNvPr>
          <p:cNvSpPr>
            <a:spLocks xmlns:a="http://schemas.openxmlformats.org/drawingml/2006/main" noGrp="1"/>
          </p:cNvSpPr>
          <p:nvPr/>
        </p:nvSpPr>
        <p:spPr>
          <a:xfrm xmlns:a="http://schemas.openxmlformats.org/drawingml/2006/main">
            <a:off x="6667500" y="16002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349 traces locales</a:t>
            </a:r>
          </a:p>
        </p:txBody>
      </p:sp>
      <p:sp>
        <p:nvSpPr>
          <p:cNvPr id="4" name="">
            <a:extLst xmlns:a="http://schemas.openxmlformats.org/drawingml/2006/main">
              <a:ext uri="{FF2B5EF4-FFF2-40B4-BE49-F238E27FC236}">
                <a16:creationId xmlns:a16="http://schemas.microsoft.com/office/drawing/2014/main" id="{A32746BF-E878-4663-A453-A26B33E10542}"/>
              </a:ext>
            </a:extLst>
          </p:cNvPr>
          <p:cNvSpPr>
            <a:spLocks xmlns:a="http://schemas.openxmlformats.org/drawingml/2006/main" noGrp="1"/>
          </p:cNvSpPr>
          <p:nvPr/>
        </p:nvSpPr>
        <p:spPr>
          <a:xfrm xmlns:a="http://schemas.openxmlformats.org/drawingml/2006/main">
            <a:off x="6667500" y="2324100"/>
            <a:ext cx="4095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222222"/>
                </a:solidFill>
              </a:defRPr>
            </a:pPr>
            <a:r>
              <a:rPr sz="1800" b="0">
                <a:solidFill>
                  <a:srgbClr val="222222"/>
                </a:solidFill>
              </a:rPr>
              <a:t>Les succes montrent la boucle complete; les echecs Lean alimentent la reparation; les erreurs provider justifient le replay.</a:t>
            </a:r>
          </a:p>
        </p:txBody>
      </p:sp>
      <p:sp>
        <p:nvSpPr>
          <p:cNvPr id="5" name="">
            <a:extLst xmlns:a="http://schemas.openxmlformats.org/drawingml/2006/main">
              <a:ext uri="{FF2B5EF4-FFF2-40B4-BE49-F238E27FC236}">
                <a16:creationId xmlns:a16="http://schemas.microsoft.com/office/drawing/2014/main" id="{D9792F71-E6FF-4DEF-88D8-4E8C8B6C3EF5}"/>
              </a:ext>
            </a:extLst>
          </p:cNvPr>
          <p:cNvSpPr>
            <a:spLocks xmlns:a="http://schemas.openxmlformats.org/drawingml/2006/main" noGrp="1"/>
          </p:cNvSpPr>
          <p:nvPr/>
        </p:nvSpPr>
        <p:spPr>
          <a:xfrm xmlns:a="http://schemas.openxmlformats.org/drawingml/2006/main">
            <a:off x="6667500" y="4095750"/>
            <a:ext cx="3714750" cy="7620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B0310E3-283B-444E-A270-CDFD0DB810AE}"/>
              </a:ext>
            </a:extLst>
          </p:cNvPr>
          <p:cNvSpPr>
            <a:spLocks xmlns:a="http://schemas.openxmlformats.org/drawingml/2006/main" noGrp="1"/>
          </p:cNvSpPr>
          <p:nvPr/>
        </p:nvSpPr>
        <p:spPr>
          <a:xfrm xmlns:a="http://schemas.openxmlformats.org/drawingml/2006/main">
            <a:off x="6896100" y="4324350"/>
            <a:ext cx="3257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defRPr>
            </a:pPr>
            <a:r>
              <a:rPr sz="1650" b="1">
                <a:solidFill>
                  <a:srgbClr val="000000"/>
                </a:solidFill>
              </a:rPr>
              <a:t>Validation technique: unittest discover -&gt; 12 tests OK.</a:t>
            </a:r>
          </a:p>
        </p:txBody>
      </p:sp>
      <p:sp>
        <p:nvSpPr>
          <p:cNvPr id="7" name="">
            <a:extLst xmlns:a="http://schemas.openxmlformats.org/drawingml/2006/main">
              <a:ext uri="{FF2B5EF4-FFF2-40B4-BE49-F238E27FC236}">
                <a16:creationId xmlns:a16="http://schemas.microsoft.com/office/drawing/2014/main" id="{197FA058-1DB6-423E-9067-B7CFFBF00FD0}"/>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Resultats</a:t>
            </a:r>
          </a:p>
        </p:txBody>
      </p:sp>
      <p:sp>
        <p:nvSpPr>
          <p:cNvPr id="8" name="">
            <a:extLst xmlns:a="http://schemas.openxmlformats.org/drawingml/2006/main">
              <a:ext uri="{FF2B5EF4-FFF2-40B4-BE49-F238E27FC236}">
                <a16:creationId xmlns:a16="http://schemas.microsoft.com/office/drawing/2014/main" id="{F1483E4B-2EE4-416C-9448-7F5D88C4BA80}"/>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07</a:t>
            </a:r>
          </a:p>
        </p:txBody>
      </p:sp>
    </p:spTree>
    <p:extLst>
      <p:ext uri="{BB962C8B-B14F-4D97-AF65-F5344CB8AC3E}">
        <p14:creationId xmlns:p14="http://schemas.microsoft.com/office/powerpoint/2010/main" val="485706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9D8404-8E44-4A75-B226-5AC974164703}"/>
              </a:ext>
            </a:extLst>
          </p:cNvPr>
          <p:cNvSpPr>
            <a:spLocks xmlns:a="http://schemas.openxmlformats.org/drawingml/2006/main" noGrp="1"/>
          </p:cNvSpPr>
          <p:nvPr/>
        </p:nvSpPr>
        <p:spPr>
          <a:xfrm xmlns:a="http://schemas.openxmlformats.org/drawingml/2006/main">
            <a:off x="400050" y="3429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Demo rapide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7ff6b11b0fa41f9"/>
          <a:stretch xmlns:a="http://schemas.openxmlformats.org/drawingml/2006/main"/>
        </p:blipFill>
        <p:spPr>
          <a:xfrm xmlns:a="http://schemas.openxmlformats.org/drawingml/2006/main">
            <a:off x="445168" y="1428750"/>
            <a:ext cx="6767763" cy="4286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D7AD4AB-4563-4499-A3F7-069C37D733C9}"/>
              </a:ext>
            </a:extLst>
          </p:cNvPr>
          <p:cNvSpPr>
            <a:spLocks xmlns:a="http://schemas.openxmlformats.org/drawingml/2006/main" noGrp="1"/>
          </p:cNvSpPr>
          <p:nvPr/>
        </p:nvSpPr>
        <p:spPr>
          <a:xfrm xmlns:a="http://schemas.openxmlformats.org/drawingml/2006/main">
            <a:off x="7810500" y="15240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defRPr>
            </a:pPr>
            <a:r>
              <a:rPr sz="2250" b="1">
                <a:solidFill>
                  <a:srgbClr val="000000"/>
                </a:solidFill>
              </a:rPr>
              <a:t>Sequence conseillee</a:t>
            </a:r>
          </a:p>
        </p:txBody>
      </p:sp>
      <p:sp>
        <p:nvSpPr>
          <p:cNvPr id="4" name="">
            <a:extLst xmlns:a="http://schemas.openxmlformats.org/drawingml/2006/main">
              <a:ext uri="{FF2B5EF4-FFF2-40B4-BE49-F238E27FC236}">
                <a16:creationId xmlns:a16="http://schemas.microsoft.com/office/drawing/2014/main" id="{600CAB44-DD25-417D-8A78-642DAA86509F}"/>
              </a:ext>
            </a:extLst>
          </p:cNvPr>
          <p:cNvSpPr>
            <a:spLocks xmlns:a="http://schemas.openxmlformats.org/drawingml/2006/main" noGrp="1"/>
          </p:cNvSpPr>
          <p:nvPr/>
        </p:nvSpPr>
        <p:spPr>
          <a:xfrm xmlns:a="http://schemas.openxmlformats.org/drawingml/2006/main">
            <a:off x="7810500" y="2143125"/>
            <a:ext cx="76200" cy="838200"/>
          </a:xfrm>
          <a:prstGeom xmlns:a="http://schemas.openxmlformats.org/drawingml/2006/main" prst="rect">
            <a:avLst/>
          </a:prstGeom>
          <a:solidFill xmlns:a="http://schemas.openxmlformats.org/drawingml/2006/main">
            <a:srgbClr val="2457D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1289FD-C69B-46F8-9D91-285BC4D7A16A}"/>
              </a:ext>
            </a:extLst>
          </p:cNvPr>
          <p:cNvSpPr>
            <a:spLocks xmlns:a="http://schemas.openxmlformats.org/drawingml/2006/main" noGrp="1"/>
          </p:cNvSpPr>
          <p:nvPr/>
        </p:nvSpPr>
        <p:spPr>
          <a:xfrm xmlns:a="http://schemas.openxmlformats.org/drawingml/2006/main">
            <a:off x="8039100" y="2200275"/>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1</a:t>
            </a:r>
          </a:p>
        </p:txBody>
      </p:sp>
      <p:sp>
        <p:nvSpPr>
          <p:cNvPr id="6" name="">
            <a:extLst xmlns:a="http://schemas.openxmlformats.org/drawingml/2006/main">
              <a:ext uri="{FF2B5EF4-FFF2-40B4-BE49-F238E27FC236}">
                <a16:creationId xmlns:a16="http://schemas.microsoft.com/office/drawing/2014/main" id="{0C2DF18C-684A-4C01-8E4F-55F2A6051441}"/>
              </a:ext>
            </a:extLst>
          </p:cNvPr>
          <p:cNvSpPr>
            <a:spLocks xmlns:a="http://schemas.openxmlformats.org/drawingml/2006/main" noGrp="1"/>
          </p:cNvSpPr>
          <p:nvPr/>
        </p:nvSpPr>
        <p:spPr>
          <a:xfrm xmlns:a="http://schemas.openxmlformats.org/drawingml/2006/main">
            <a:off x="8039100" y="256222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Ouvrir un replay stable pour montrer la timeline.</a:t>
            </a:r>
          </a:p>
        </p:txBody>
      </p:sp>
      <p:sp>
        <p:nvSpPr>
          <p:cNvPr id="7" name="">
            <a:extLst xmlns:a="http://schemas.openxmlformats.org/drawingml/2006/main">
              <a:ext uri="{FF2B5EF4-FFF2-40B4-BE49-F238E27FC236}">
                <a16:creationId xmlns:a16="http://schemas.microsoft.com/office/drawing/2014/main" id="{069A7266-D9E2-45C7-ADB3-81E8ED438044}"/>
              </a:ext>
            </a:extLst>
          </p:cNvPr>
          <p:cNvSpPr>
            <a:spLocks xmlns:a="http://schemas.openxmlformats.org/drawingml/2006/main" noGrp="1"/>
          </p:cNvSpPr>
          <p:nvPr/>
        </p:nvSpPr>
        <p:spPr>
          <a:xfrm xmlns:a="http://schemas.openxmlformats.org/drawingml/2006/main">
            <a:off x="7810500" y="3190875"/>
            <a:ext cx="76200" cy="8382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8F30FE-9A37-46D8-BA63-AC6882B8C8E6}"/>
              </a:ext>
            </a:extLst>
          </p:cNvPr>
          <p:cNvSpPr>
            <a:spLocks xmlns:a="http://schemas.openxmlformats.org/drawingml/2006/main" noGrp="1"/>
          </p:cNvSpPr>
          <p:nvPr/>
        </p:nvSpPr>
        <p:spPr>
          <a:xfrm xmlns:a="http://schemas.openxmlformats.org/drawingml/2006/main">
            <a:off x="8039100" y="3248025"/>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2</a:t>
            </a:r>
          </a:p>
        </p:txBody>
      </p:sp>
      <p:sp>
        <p:nvSpPr>
          <p:cNvPr id="9" name="">
            <a:extLst xmlns:a="http://schemas.openxmlformats.org/drawingml/2006/main">
              <a:ext uri="{FF2B5EF4-FFF2-40B4-BE49-F238E27FC236}">
                <a16:creationId xmlns:a16="http://schemas.microsoft.com/office/drawing/2014/main" id="{926896BF-6E54-4597-ABE3-CC15AC576C59}"/>
              </a:ext>
            </a:extLst>
          </p:cNvPr>
          <p:cNvSpPr>
            <a:spLocks xmlns:a="http://schemas.openxmlformats.org/drawingml/2006/main" noGrp="1"/>
          </p:cNvSpPr>
          <p:nvPr/>
        </p:nvSpPr>
        <p:spPr>
          <a:xfrm xmlns:a="http://schemas.openxmlformats.org/drawingml/2006/main">
            <a:off x="8039100" y="360997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Cliquer une etape verifier et lire le retour Lean.</a:t>
            </a:r>
          </a:p>
        </p:txBody>
      </p:sp>
      <p:sp>
        <p:nvSpPr>
          <p:cNvPr id="10" name="">
            <a:extLst xmlns:a="http://schemas.openxmlformats.org/drawingml/2006/main">
              <a:ext uri="{FF2B5EF4-FFF2-40B4-BE49-F238E27FC236}">
                <a16:creationId xmlns:a16="http://schemas.microsoft.com/office/drawing/2014/main" id="{5D5CC62D-161D-4BB4-B458-593AC1359460}"/>
              </a:ext>
            </a:extLst>
          </p:cNvPr>
          <p:cNvSpPr>
            <a:spLocks xmlns:a="http://schemas.openxmlformats.org/drawingml/2006/main" noGrp="1"/>
          </p:cNvSpPr>
          <p:nvPr/>
        </p:nvSpPr>
        <p:spPr>
          <a:xfrm xmlns:a="http://schemas.openxmlformats.org/drawingml/2006/main">
            <a:off x="7810500" y="4238625"/>
            <a:ext cx="76200" cy="838200"/>
          </a:xfrm>
          <a:prstGeom xmlns:a="http://schemas.openxmlformats.org/drawingml/2006/main" prst="rect">
            <a:avLst/>
          </a:prstGeom>
          <a:solidFill xmlns:a="http://schemas.openxmlformats.org/drawingml/2006/main">
            <a:srgbClr val="2457D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9F3AF3E-4C73-4596-B45F-EFA435527F21}"/>
              </a:ext>
            </a:extLst>
          </p:cNvPr>
          <p:cNvSpPr>
            <a:spLocks xmlns:a="http://schemas.openxmlformats.org/drawingml/2006/main" noGrp="1"/>
          </p:cNvSpPr>
          <p:nvPr/>
        </p:nvSpPr>
        <p:spPr>
          <a:xfrm xmlns:a="http://schemas.openxmlformats.org/drawingml/2006/main">
            <a:off x="8039100" y="4295775"/>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3</a:t>
            </a:r>
          </a:p>
        </p:txBody>
      </p:sp>
      <p:sp>
        <p:nvSpPr>
          <p:cNvPr id="12" name="">
            <a:extLst xmlns:a="http://schemas.openxmlformats.org/drawingml/2006/main">
              <a:ext uri="{FF2B5EF4-FFF2-40B4-BE49-F238E27FC236}">
                <a16:creationId xmlns:a16="http://schemas.microsoft.com/office/drawing/2014/main" id="{F2321E57-CDA4-4AC5-A6BB-4C7A85D2175F}"/>
              </a:ext>
            </a:extLst>
          </p:cNvPr>
          <p:cNvSpPr>
            <a:spLocks xmlns:a="http://schemas.openxmlformats.org/drawingml/2006/main" noGrp="1"/>
          </p:cNvSpPr>
          <p:nvPr/>
        </p:nvSpPr>
        <p:spPr>
          <a:xfrm xmlns:a="http://schemas.openxmlformats.org/drawingml/2006/main">
            <a:off x="8039100" y="465772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Si tout est configure: real run sur un theorem smoke.</a:t>
            </a:r>
          </a:p>
        </p:txBody>
      </p:sp>
      <p:sp>
        <p:nvSpPr>
          <p:cNvPr id="13" name="">
            <a:extLst xmlns:a="http://schemas.openxmlformats.org/drawingml/2006/main">
              <a:ext uri="{FF2B5EF4-FFF2-40B4-BE49-F238E27FC236}">
                <a16:creationId xmlns:a16="http://schemas.microsoft.com/office/drawing/2014/main" id="{EC4075CA-B5E9-4403-8FED-6F428E60021C}"/>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Demo</a:t>
            </a:r>
          </a:p>
        </p:txBody>
      </p:sp>
      <p:sp>
        <p:nvSpPr>
          <p:cNvPr id="14" name="">
            <a:extLst xmlns:a="http://schemas.openxmlformats.org/drawingml/2006/main">
              <a:ext uri="{FF2B5EF4-FFF2-40B4-BE49-F238E27FC236}">
                <a16:creationId xmlns:a16="http://schemas.microsoft.com/office/drawing/2014/main" id="{40B8DB36-ED35-4D61-BFCB-2855C6D35799}"/>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08</a:t>
            </a:r>
          </a:p>
        </p:txBody>
      </p:sp>
    </p:spTree>
    <p:extLst>
      <p:ext uri="{BB962C8B-B14F-4D97-AF65-F5344CB8AC3E}">
        <p14:creationId xmlns:p14="http://schemas.microsoft.com/office/powerpoint/2010/main" val="10844786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B18C67-9DEB-4B7B-ACB9-AE9508C9D581}"/>
              </a:ext>
            </a:extLst>
          </p:cNvPr>
          <p:cNvSpPr>
            <a:spLocks xmlns:a="http://schemas.openxmlformats.org/drawingml/2006/main" noGrp="1"/>
          </p:cNvSpPr>
          <p:nvPr/>
        </p:nvSpPr>
        <p:spPr>
          <a:xfrm xmlns:a="http://schemas.openxmlformats.org/drawingml/2006/main">
            <a:off x="400050" y="3429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defRPr>
            </a:pPr>
            <a:r>
              <a:rPr sz="3600" b="1">
                <a:solidFill>
                  <a:srgbClr val="000000"/>
                </a:solidFill>
              </a:rPr>
              <a:t>Conclusion</a:t>
            </a:r>
          </a:p>
        </p:txBody>
      </p:sp>
      <p:sp>
        <p:nvSpPr>
          <p:cNvPr id="2" name="">
            <a:extLst xmlns:a="http://schemas.openxmlformats.org/drawingml/2006/main">
              <a:ext uri="{FF2B5EF4-FFF2-40B4-BE49-F238E27FC236}">
                <a16:creationId xmlns:a16="http://schemas.microsoft.com/office/drawing/2014/main" id="{7DD7A7D7-4599-460F-928D-3D1FBDC95EAB}"/>
              </a:ext>
            </a:extLst>
          </p:cNvPr>
          <p:cNvSpPr>
            <a:spLocks xmlns:a="http://schemas.openxmlformats.org/drawingml/2006/main" noGrp="1"/>
          </p:cNvSpPr>
          <p:nvPr/>
        </p:nvSpPr>
        <p:spPr>
          <a:xfrm xmlns:a="http://schemas.openxmlformats.org/drawingml/2006/main">
            <a:off x="685800" y="167640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Ce qu'on retient</a:t>
            </a:r>
          </a:p>
        </p:txBody>
      </p:sp>
      <p:sp>
        <p:nvSpPr>
          <p:cNvPr id="3" name="">
            <a:extLst xmlns:a="http://schemas.openxmlformats.org/drawingml/2006/main">
              <a:ext uri="{FF2B5EF4-FFF2-40B4-BE49-F238E27FC236}">
                <a16:creationId xmlns:a16="http://schemas.microsoft.com/office/drawing/2014/main" id="{D3F0E926-AD0D-4C28-834E-A22E6C8303F1}"/>
              </a:ext>
            </a:extLst>
          </p:cNvPr>
          <p:cNvSpPr>
            <a:spLocks xmlns:a="http://schemas.openxmlformats.org/drawingml/2006/main" noGrp="1"/>
          </p:cNvSpPr>
          <p:nvPr/>
        </p:nvSpPr>
        <p:spPr>
          <a:xfrm xmlns:a="http://schemas.openxmlformats.org/drawingml/2006/main">
            <a:off x="742950" y="2381250"/>
            <a:ext cx="76200" cy="1200150"/>
          </a:xfrm>
          <a:prstGeom xmlns:a="http://schemas.openxmlformats.org/drawingml/2006/main" prst="rect">
            <a:avLst/>
          </a:prstGeom>
          <a:solidFill xmlns:a="http://schemas.openxmlformats.org/drawingml/2006/main">
            <a:srgbClr val="2457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8C204B-E734-4835-8731-8377F64229FD}"/>
              </a:ext>
            </a:extLst>
          </p:cNvPr>
          <p:cNvSpPr>
            <a:spLocks xmlns:a="http://schemas.openxmlformats.org/drawingml/2006/main" noGrp="1"/>
          </p:cNvSpPr>
          <p:nvPr/>
        </p:nvSpPr>
        <p:spPr>
          <a:xfrm xmlns:a="http://schemas.openxmlformats.org/drawingml/2006/main">
            <a:off x="971550" y="2438400"/>
            <a:ext cx="424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Force</a:t>
            </a:r>
          </a:p>
        </p:txBody>
      </p:sp>
      <p:sp>
        <p:nvSpPr>
          <p:cNvPr id="5" name="">
            <a:extLst xmlns:a="http://schemas.openxmlformats.org/drawingml/2006/main">
              <a:ext uri="{FF2B5EF4-FFF2-40B4-BE49-F238E27FC236}">
                <a16:creationId xmlns:a16="http://schemas.microsoft.com/office/drawing/2014/main" id="{76A81131-1321-4343-AAC6-0F407B758021}"/>
              </a:ext>
            </a:extLst>
          </p:cNvPr>
          <p:cNvSpPr>
            <a:spLocks xmlns:a="http://schemas.openxmlformats.org/drawingml/2006/main" noGrp="1"/>
          </p:cNvSpPr>
          <p:nvPr/>
        </p:nvSpPr>
        <p:spPr>
          <a:xfrm xmlns:a="http://schemas.openxmlformats.org/drawingml/2006/main">
            <a:off x="971550" y="2800350"/>
            <a:ext cx="4248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Une boucle neuro-symbolique inspectable: LLM pour chercher, Lean pour certifier.</a:t>
            </a:r>
          </a:p>
        </p:txBody>
      </p:sp>
      <p:sp>
        <p:nvSpPr>
          <p:cNvPr id="6" name="">
            <a:extLst xmlns:a="http://schemas.openxmlformats.org/drawingml/2006/main">
              <a:ext uri="{FF2B5EF4-FFF2-40B4-BE49-F238E27FC236}">
                <a16:creationId xmlns:a16="http://schemas.microsoft.com/office/drawing/2014/main" id="{610A0FE9-E849-4EE1-A1AE-AB96946B1A07}"/>
              </a:ext>
            </a:extLst>
          </p:cNvPr>
          <p:cNvSpPr>
            <a:spLocks xmlns:a="http://schemas.openxmlformats.org/drawingml/2006/main" noGrp="1"/>
          </p:cNvSpPr>
          <p:nvPr/>
        </p:nvSpPr>
        <p:spPr>
          <a:xfrm xmlns:a="http://schemas.openxmlformats.org/drawingml/2006/main">
            <a:off x="742950" y="4000500"/>
            <a:ext cx="76200" cy="1200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A00A8C-6F81-40DC-881B-B5146CD9B4DE}"/>
              </a:ext>
            </a:extLst>
          </p:cNvPr>
          <p:cNvSpPr>
            <a:spLocks xmlns:a="http://schemas.openxmlformats.org/drawingml/2006/main" noGrp="1"/>
          </p:cNvSpPr>
          <p:nvPr/>
        </p:nvSpPr>
        <p:spPr>
          <a:xfrm xmlns:a="http://schemas.openxmlformats.org/drawingml/2006/main">
            <a:off x="971550" y="4057650"/>
            <a:ext cx="424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Limites</a:t>
            </a:r>
          </a:p>
        </p:txBody>
      </p:sp>
      <p:sp>
        <p:nvSpPr>
          <p:cNvPr id="8" name="">
            <a:extLst xmlns:a="http://schemas.openxmlformats.org/drawingml/2006/main">
              <a:ext uri="{FF2B5EF4-FFF2-40B4-BE49-F238E27FC236}">
                <a16:creationId xmlns:a16="http://schemas.microsoft.com/office/drawing/2014/main" id="{125BEB0E-9118-413D-A350-137D765EF9DC}"/>
              </a:ext>
            </a:extLst>
          </p:cNvPr>
          <p:cNvSpPr>
            <a:spLocks xmlns:a="http://schemas.openxmlformats.org/drawingml/2006/main" noGrp="1"/>
          </p:cNvSpPr>
          <p:nvPr/>
        </p:nvSpPr>
        <p:spPr>
          <a:xfrm xmlns:a="http://schemas.openxmlformats.org/drawingml/2006/main">
            <a:off x="971550" y="4419600"/>
            <a:ext cx="4248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22222"/>
                </a:solidFill>
              </a:defRPr>
            </a:pPr>
            <a:r>
              <a:rPr sz="1425" b="0">
                <a:solidFill>
                  <a:srgbClr val="222222"/>
                </a:solidFill>
              </a:rPr>
              <a:t>Mathlib, providers et profondeur des preuves restent les principaux points fragiles.</a:t>
            </a:r>
          </a:p>
        </p:txBody>
      </p:sp>
      <p:sp>
        <p:nvSpPr>
          <p:cNvPr id="9" name="">
            <a:extLst xmlns:a="http://schemas.openxmlformats.org/drawingml/2006/main">
              <a:ext uri="{FF2B5EF4-FFF2-40B4-BE49-F238E27FC236}">
                <a16:creationId xmlns:a16="http://schemas.microsoft.com/office/drawing/2014/main" id="{37297E08-F3CF-4DA8-A217-97C366CAB07B}"/>
              </a:ext>
            </a:extLst>
          </p:cNvPr>
          <p:cNvSpPr>
            <a:spLocks xmlns:a="http://schemas.openxmlformats.org/drawingml/2006/main" noGrp="1"/>
          </p:cNvSpPr>
          <p:nvPr/>
        </p:nvSpPr>
        <p:spPr>
          <a:xfrm xmlns:a="http://schemas.openxmlformats.org/drawingml/2006/main">
            <a:off x="6572250" y="1657350"/>
            <a:ext cx="4191000" cy="28575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EBEF8CB-9927-496F-B04C-24639FB1FE6D}"/>
              </a:ext>
            </a:extLst>
          </p:cNvPr>
          <p:cNvSpPr>
            <a:spLocks xmlns:a="http://schemas.openxmlformats.org/drawingml/2006/main" noGrp="1"/>
          </p:cNvSpPr>
          <p:nvPr/>
        </p:nvSpPr>
        <p:spPr>
          <a:xfrm xmlns:a="http://schemas.openxmlformats.org/drawingml/2006/main">
            <a:off x="6896100" y="2000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Perspectives</a:t>
            </a:r>
          </a:p>
        </p:txBody>
      </p:sp>
      <p:sp>
        <p:nvSpPr>
          <p:cNvPr id="11" name="">
            <a:extLst xmlns:a="http://schemas.openxmlformats.org/drawingml/2006/main">
              <a:ext uri="{FF2B5EF4-FFF2-40B4-BE49-F238E27FC236}">
                <a16:creationId xmlns:a16="http://schemas.microsoft.com/office/drawing/2014/main" id="{81C56515-D2A4-419E-8CCF-5DED4E17E43A}"/>
              </a:ext>
            </a:extLst>
          </p:cNvPr>
          <p:cNvSpPr>
            <a:spLocks xmlns:a="http://schemas.openxmlformats.org/drawingml/2006/main" noGrp="1"/>
          </p:cNvSpPr>
          <p:nvPr/>
        </p:nvSpPr>
        <p:spPr>
          <a:xfrm xmlns:a="http://schemas.openxmlformats.org/drawingml/2006/main">
            <a:off x="6896100" y="2667000"/>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222222"/>
                </a:solidFill>
              </a:defRPr>
            </a:pPr>
            <a:r>
              <a:rPr sz="1875" b="0">
                <a:solidFill>
                  <a:srgbClr val="222222"/>
                </a:solidFill>
              </a:rPr>
              <a:t>LeanDojo</a:t>
            </a:r>
          </a:p>
          <a:p xmlns:a="http://schemas.openxmlformats.org/drawingml/2006/main">
            <a:pPr algn="l">
              <a:defRPr sz="1875" b="0">
                <a:solidFill>
                  <a:srgbClr val="222222"/>
                </a:solidFill>
              </a:defRPr>
            </a:pPr>
            <a:r>
              <a:rPr sz="1875" b="0">
                <a:solidFill>
                  <a:srgbClr val="222222"/>
                </a:solidFill>
              </a:rPr>
              <a:t>Retrieval de lemmes</a:t>
            </a:r>
          </a:p>
          <a:p xmlns:a="http://schemas.openxmlformats.org/drawingml/2006/main">
            <a:pPr algn="l">
              <a:defRPr sz="1875" b="0">
                <a:solidFill>
                  <a:srgbClr val="222222"/>
                </a:solidFill>
              </a:defRPr>
            </a:pPr>
            <a:r>
              <a:rPr sz="1875" b="0">
                <a:solidFill>
                  <a:srgbClr val="222222"/>
                </a:solidFill>
              </a:rPr>
              <a:t>Evaluation par familles</a:t>
            </a:r>
          </a:p>
          <a:p xmlns:a="http://schemas.openxmlformats.org/drawingml/2006/main">
            <a:pPr algn="l">
              <a:defRPr sz="1875" b="0">
                <a:solidFill>
                  <a:srgbClr val="222222"/>
                </a:solidFill>
              </a:defRPr>
            </a:pPr>
            <a:r>
              <a:rPr sz="1875" b="0">
                <a:solidFill>
                  <a:srgbClr val="222222"/>
                </a:solidFill>
              </a:rPr>
              <a:t>Meilleure selection de branches</a:t>
            </a:r>
          </a:p>
        </p:txBody>
      </p:sp>
      <p:sp>
        <p:nvSpPr>
          <p:cNvPr id="12" name="">
            <a:extLst xmlns:a="http://schemas.openxmlformats.org/drawingml/2006/main">
              <a:ext uri="{FF2B5EF4-FFF2-40B4-BE49-F238E27FC236}">
                <a16:creationId xmlns:a16="http://schemas.microsoft.com/office/drawing/2014/main" id="{AC9527CC-578C-4218-9DFC-E49873EE4CD1}"/>
              </a:ext>
            </a:extLst>
          </p:cNvPr>
          <p:cNvSpPr>
            <a:spLocks xmlns:a="http://schemas.openxmlformats.org/drawingml/2006/main" noGrp="1"/>
          </p:cNvSpPr>
          <p:nvPr/>
        </p:nvSpPr>
        <p:spPr>
          <a:xfrm xmlns:a="http://schemas.openxmlformats.org/drawingml/2006/main">
            <a:off x="6896100" y="4876800"/>
            <a:ext cx="2476500" cy="762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DAD456F-2E7B-4A67-A6D1-F14FE35C8998}"/>
              </a:ext>
            </a:extLst>
          </p:cNvPr>
          <p:cNvSpPr>
            <a:spLocks xmlns:a="http://schemas.openxmlformats.org/drawingml/2006/main" noGrp="1"/>
          </p:cNvSpPr>
          <p:nvPr/>
        </p:nvSpPr>
        <p:spPr>
          <a:xfrm xmlns:a="http://schemas.openxmlformats.org/drawingml/2006/main">
            <a:off x="400050" y="62865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55555"/>
                </a:solidFill>
              </a:defRPr>
            </a:pPr>
            <a:r>
              <a:rPr sz="1125" b="1">
                <a:solidFill>
                  <a:srgbClr val="555555"/>
                </a:solidFill>
              </a:rPr>
              <a:t>Bilan</a:t>
            </a:r>
          </a:p>
        </p:txBody>
      </p:sp>
      <p:sp>
        <p:nvSpPr>
          <p:cNvPr id="14" name="">
            <a:extLst xmlns:a="http://schemas.openxmlformats.org/drawingml/2006/main">
              <a:ext uri="{FF2B5EF4-FFF2-40B4-BE49-F238E27FC236}">
                <a16:creationId xmlns:a16="http://schemas.microsoft.com/office/drawing/2014/main" id="{3AE74BF0-FAC2-48D6-A8E2-443F11D1F815}"/>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55555"/>
                </a:solidFill>
              </a:defRPr>
            </a:pPr>
            <a:r>
              <a:rPr sz="1125" b="0">
                <a:solidFill>
                  <a:srgbClr val="555555"/>
                </a:solidFill>
              </a:rPr>
              <a:t>09</a:t>
            </a:r>
          </a:p>
        </p:txBody>
      </p:sp>
    </p:spTree>
    <p:extLst>
      <p:ext uri="{BB962C8B-B14F-4D97-AF65-F5344CB8AC3E}">
        <p14:creationId xmlns:p14="http://schemas.microsoft.com/office/powerpoint/2010/main" val="1920670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2026-06-25T12:49:43.1050000Z</dcterms:created>
  <dcterms:modified xsi:type="dcterms:W3CDTF">2026-06-25T12:49:43.1050000Z</dcterms:modified>
</coreProperties>
</file>